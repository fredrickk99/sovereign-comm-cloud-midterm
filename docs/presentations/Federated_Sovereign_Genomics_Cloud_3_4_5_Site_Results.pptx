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reference presentation CTA-MSC-4(5).pptx used for style and structure.
Experiment results from federation_scale_aggregate_summary.csv and federation_scale_endpoint_summary.csv.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Assignment framing and terminology follow the user-provided reference deck.
Updated implementation evidence is based on the user experiment logs and supplied result CSVs.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Topology follows the implemented lab and user-provided scale-out configuration.
Sites C/D/E are federation endpoints for scale/control-plane evaluation; Sites A/B remain the full execution reference sites.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3-site stage is supported by deployment evidence from Site C configuration and health checks.
Quantitative data supplied: federation_scale_aggregate_summary.csv and federation_scale_endpoint_summary.csv contain 4-site and 5-site measurements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Site C deployment evidence comes from the user implementation logs and confirmed routing/JWKS/health checks.
No 3-site aggregate timing CSV was supplied, so the slide intentionally avoids fabricated latency figures.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DDIL conditions and counts are derived from federation_scale_aggregate_summary.csv and the scale-out experiment configuration.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Data: federation_scale_aggregate_summary.csv, site_count=4.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Data: federation_scale_aggregate_summary.csv, site_count=5.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Comparison computed directly from federation_scale_aggregate_summary.csv.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Data: federation_scale_endpoint_summary.csv, site_count=5.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02920"/>
            <a:ext cx="113385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6565392"/>
            <a:ext cx="8961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Federated Sovereign Genomics Cloud | Updated 3-site, 4-site and 5-site evaluation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9692640" y="6565392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Fredrick Tamale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6666"/>
                </a:solidFill>
                <a:latin typeface="Garamond"/>
                <a:ea typeface="Garamond"/>
                <a:cs typeface="Garamon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6666"/>
                </a:solidFill>
                <a:latin typeface="Garamond"/>
                <a:ea typeface="Garamond"/>
                <a:cs typeface="Garamon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9921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Sovereign Community Cloud Infrastructure for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Genomics in Resource-Constrained Settings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828800" y="19659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System Design, Multi-Site Federation and DDIL Evaluation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278892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MCS 7101: Cloud Technologies and Architectures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Mid-Term Examination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3977640"/>
            <a:ext cx="47548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Name: Fredrick Tamale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Student Number: 2600722751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Registration Number: 2026/HD05/22751U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5166360"/>
            <a:ext cx="6720840" cy="0"/>
          </a:xfrm>
          <a:prstGeom prst="line">
            <a:avLst/>
          </a:prstGeom>
          <a:noFill/>
          <a:ln w="12700">
            <a:solidFill>
              <a:srgbClr val="7777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53492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0707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Updated evaluation: 3-site deployment validation, 4-site and 5-site DDIL scale testing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11155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What the assignment requires</a:t>
            </a:r>
            <a:endParaRPr lang="en-US" sz="2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05840"/>
          <a:ext cx="10972800" cy="4206240"/>
        </p:xfrm>
        <a:graphic>
          <a:graphicData uri="http://schemas.openxmlformats.org/drawingml/2006/table">
            <a:tbl>
              <a:tblPr/>
              <a:tblGrid>
                <a:gridCol w="2057400"/>
                <a:gridCol w="8915400"/>
              </a:tblGrid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Requirement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How the updated system answers it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Architecture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Five-site sovereign federation: two full execution sites plus three lightweight federation endpoints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Rust system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Rust federation agent validates JWTs, loads trusted JWKS, checks OPA policy and exposes health/metrics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Reproducibility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Provisioning scripts, static addressing, persistent routes, certificates, logs and repeatable DDIL harness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Production evidence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Sites A/B execute workflows; Sites C/D/E join securely through mTLS, JWT and OPA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DDIL evaluation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3-site deployment validation followed by quantitative 4-site and 5-site latency experiments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Security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mTLS + JWT issuer/signature/expiry/audience + OPA; protected raw export remained HTTP 403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1371600" y="5532120"/>
            <a:ext cx="94183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444752" y="5586984"/>
            <a:ext cx="927201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Main extension: the federation now demonstrates growth from 2 → 3 → 4 → 5 sites without weakening the policy boundary.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6666"/>
                </a:solidFill>
                <a:latin typeface="Garamond"/>
                <a:ea typeface="Garamond"/>
                <a:cs typeface="Garamond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11155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0704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Genomic data is sensitive, large and difficult to move safely.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Institutions need collaboration without surrendering raw FASTQ/BAM/VCF data.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Resource-constrained environments can have fragile WAN links and uneven compute capacity.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A federation should keep data under local authority while allowing approved analysis requests to cross sites.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60120" y="2743200"/>
            <a:ext cx="297180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3272" y="2798064"/>
            <a:ext cx="2825496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Local capacity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Limited storage and compute can constrain genomic workloads.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17720" y="2743200"/>
            <a:ext cx="297180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90872" y="2798064"/>
            <a:ext cx="2825496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Fragile infrastructure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WAN delay and intermittent connectivity can disrupt federation traffic.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75320" y="2743200"/>
            <a:ext cx="297180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48472" y="2798064"/>
            <a:ext cx="2825496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Sovereign sharing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Each institution retains data, keys and final access authority.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65960" y="5074920"/>
            <a:ext cx="81838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39112" y="5129784"/>
            <a:ext cx="803757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Move the computation to the data, not the raw data to the computation.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58338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0707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This principle remains unchanged as the federation grows from three to five participating sites.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6666"/>
                </a:solidFill>
                <a:latin typeface="Garamond"/>
                <a:ea typeface="Garamond"/>
                <a:cs typeface="Garamond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11155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Updated cloud architecture implemented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0707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Sites A and B remain full execution sites; Sites C, D and E are lightweight federation endpoints used for scale testing.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2926080" cy="1965960"/>
          </a:xfrm>
          <a:prstGeom prst="cloud">
            <a:avLst/>
          </a:prstGeom>
          <a:solidFill>
            <a:srgbClr val="FFFFFF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521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Site A – Full Site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04088" y="1463040"/>
            <a:ext cx="2523744" cy="1399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2D2D2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Keycloak + JWKS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2D2D2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Nginx mTLS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2D2D2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Rust federation agent + OPA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2D2D2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Nextflow + Slurm worker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2D2D2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Local genomic data</a:t>
            </a:r>
            <a:endParaRPr lang="en-US" sz="840" dirty="0"/>
          </a:p>
        </p:txBody>
      </p:sp>
      <p:sp>
        <p:nvSpPr>
          <p:cNvPr id="7" name="Shape 5"/>
          <p:cNvSpPr/>
          <p:nvPr/>
        </p:nvSpPr>
        <p:spPr>
          <a:xfrm>
            <a:off x="8732520" y="1005840"/>
            <a:ext cx="2926080" cy="1965960"/>
          </a:xfrm>
          <a:prstGeom prst="cloud">
            <a:avLst/>
          </a:prstGeom>
          <a:solidFill>
            <a:srgbClr val="FFFFFF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0" y="11521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Site B – Full Site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33688" y="1463040"/>
            <a:ext cx="2523744" cy="1399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2D2D2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Keycloak + JWKS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2D2D2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Nginx mTLS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2D2D2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Rust federation agent + OPA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2D2D2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Nextflow + Slurm worker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2D2D2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Local genomic data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3703320" y="1234440"/>
            <a:ext cx="16459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76472" y="1289304"/>
            <a:ext cx="149961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Router 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137.63.148.179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10.10.10.1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12280" y="1234440"/>
            <a:ext cx="16459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85432" y="1289304"/>
            <a:ext cx="149961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Router 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137.63.148.26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10.20.20.1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29000" y="1737360"/>
            <a:ext cx="27432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349240" y="1737360"/>
            <a:ext cx="146304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577840" y="1572768"/>
            <a:ext cx="1005840" cy="228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DDIL/WAN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458200" y="1737360"/>
            <a:ext cx="27432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60120" y="3749040"/>
            <a:ext cx="2560320" cy="1600200"/>
          </a:xfrm>
          <a:prstGeom prst="cloud">
            <a:avLst/>
          </a:prstGeom>
          <a:solidFill>
            <a:srgbClr val="FFFFFF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38953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Site 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61288" y="4206240"/>
            <a:ext cx="2157984" cy="10332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2D2D2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VM 609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2D2D2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137.63.148.104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2D2D2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Nginx + Rust + OPA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2D2D2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mTLS / JWT / JWKS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4800600" y="3749040"/>
            <a:ext cx="2560320" cy="1600200"/>
          </a:xfrm>
          <a:prstGeom prst="cloud">
            <a:avLst/>
          </a:prstGeom>
          <a:solidFill>
            <a:srgbClr val="FFFFFF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8953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Site 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01768" y="4206240"/>
            <a:ext cx="2157984" cy="10332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2D2D2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VM 610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2D2D2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137.63.148.105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2D2D2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Nginx + Rust + OPA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2D2D2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mTLS / JWT / JWKS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8641080" y="3749040"/>
            <a:ext cx="2560320" cy="1600200"/>
          </a:xfrm>
          <a:prstGeom prst="cloud">
            <a:avLst/>
          </a:prstGeom>
          <a:solidFill>
            <a:srgbClr val="FFFFFF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0" y="38953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Site 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842248" y="4206240"/>
            <a:ext cx="2157984" cy="10332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2D2D2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VM 611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2D2D2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137.63.148.106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2D2D2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Nginx + Rust + OPA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2D2D2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mTLS / JWT / JWKS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2240280" y="3749040"/>
            <a:ext cx="2103120" cy="-160020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2788920" y="2784348"/>
            <a:ext cx="1005840" cy="228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routes to A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240280" y="3749040"/>
            <a:ext cx="5074920" cy="-160020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4274820" y="2784348"/>
            <a:ext cx="1005840" cy="228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routes to B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080760" y="3749040"/>
            <a:ext cx="-1737360" cy="-160020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080760" y="3749040"/>
            <a:ext cx="1234440" cy="-160020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921240" y="3749040"/>
            <a:ext cx="-5577840" cy="-160020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921240" y="3749040"/>
            <a:ext cx="-2606040" cy="-160020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05840" y="5742432"/>
            <a:ext cx="10149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78992" y="5797296"/>
            <a:ext cx="100035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Persistent routes: 10.10.10.0/24 → Router A  |  10.20.20.0/24 → Router B  |  trusted issuers stay private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6666"/>
                </a:solidFill>
                <a:latin typeface="Garamond"/>
                <a:ea typeface="Garamond"/>
                <a:cs typeface="Garamond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11155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Federation growth was tested in stages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2926080" cy="42976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3-site federation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43000" y="1965960"/>
            <a:ext cx="1920240" cy="86868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16152" y="2075688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PASS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216152" y="246888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707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deployment validation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3017520"/>
            <a:ext cx="228600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A + B + 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Site C joins securely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Routes to private Keycloak networks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JWKS A/B reachable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Rust agent + OPA + mTLS online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60520" y="1143000"/>
            <a:ext cx="2926080" cy="42976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4-site federation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63440" y="1965960"/>
            <a:ext cx="1920240" cy="86868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2075688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150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36592" y="246888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707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secured measurements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480560" y="3017520"/>
            <a:ext cx="228600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A + B + C + 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Site D joins using same controls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30 measurements per DDIL condition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150 secured requests total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All returned expected HTTP 403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680960" y="1143000"/>
            <a:ext cx="2926080" cy="4297680"/>
          </a:xfrm>
          <a:prstGeom prst="roundRect">
            <a:avLst/>
          </a:prstGeom>
          <a:solidFill>
            <a:srgbClr val="F5F5F5"/>
          </a:solidFill>
          <a:ln w="1651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5-site federation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83880" y="1965960"/>
            <a:ext cx="1920240" cy="86868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032" y="2075688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200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257032" y="246888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707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secured measurements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001000" y="3017520"/>
            <a:ext cx="228600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A + B + C + D + 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Site E joins using same controls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40 measurements per DDIL condition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200 secured requests total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All returned expected HTTP 403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11880" y="3200400"/>
            <a:ext cx="4572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3337560" y="3035808"/>
            <a:ext cx="1005840" cy="228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+ Site 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132320" y="3200400"/>
            <a:ext cx="4572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6858000" y="3035808"/>
            <a:ext cx="1005840" cy="228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+ Site 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14400" y="5715000"/>
            <a:ext cx="102412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5769864"/>
            <a:ext cx="10094976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Important: the supplied quantitative CSV summaries contain 4-site and 5-site latency data. The 3-site stage is therefore reported as deployment/security validation rather than inventing timing values.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6666"/>
                </a:solidFill>
                <a:latin typeface="Garamond"/>
                <a:ea typeface="Garamond"/>
                <a:cs typeface="Garamond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11155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3-site results: Site C joined the federation successfully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97280"/>
          <a:ext cx="10972800" cy="347472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5852160"/>
              </a:tblGrid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Validation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Observed result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Meaning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Static endpoint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Site C = 137.63.148.104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 distinct third federation member was reachable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Private routing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10.10.10.0/24 via Router A; 10.20.20.0/24 via Router B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Site C could reach both trusted identity domains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JWKS trust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Site A JWKS PASS; Site B JWKS PASS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Rust could load trusted verification keys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Federation agent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Health status online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Rust service started successfully after routing fix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mTLS / policy path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Nginx + Rust + OPA deployed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The same security chain used by A/B extended to C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1097280" y="4892040"/>
            <a:ext cx="2194560" cy="86868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70432" y="5001768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170432" y="5394960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707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participating sites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794760" y="4892040"/>
            <a:ext cx="2194560" cy="86868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67912" y="5001768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3867912" y="5394960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707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trusted JWKS issuers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492240" y="4892040"/>
            <a:ext cx="2194560" cy="86868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65392" y="5001768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PASS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565392" y="5394960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707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route + trust checks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9189720" y="4892040"/>
            <a:ext cx="1828800" cy="86868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262872" y="5001768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online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9262872" y="5394960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707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Site C agent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097280" y="598932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0707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No quantitative 3-site latency aggregate is shown because it was not present in the supplied result CSVs.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6666"/>
                </a:solidFill>
                <a:latin typeface="Garamond"/>
                <a:ea typeface="Garamond"/>
                <a:cs typeface="Garamond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11155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DDIL scale experiment setup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51560"/>
          <a:ext cx="10881360" cy="310896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3840480"/>
                <a:gridCol w="1691640"/>
                <a:gridCol w="1691640"/>
              </a:tblGrid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Condition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Added latency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Measurement target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4-site runs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5-site runs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Baseline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0 ms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Secured policy-denial request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30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40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Mild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25 ms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Secured policy-denial request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30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40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Moderate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50 ms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Secured policy-denial request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30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40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Severe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100 ms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Secured policy-denial request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30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40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Extreme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250 ms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Secured policy-denial request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30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40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22960" y="4434840"/>
            <a:ext cx="1042416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The request reaches Nginx mTLS, Rust JWT validation and OPA, then raw export is intentionally denied.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Therefore HTTP 403 is the expected success state for this security experiment.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Ten repetitions were recorded per site for every DDIL condition.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2057400" y="5669280"/>
            <a:ext cx="81381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130552" y="5724144"/>
            <a:ext cx="799185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Across the supplied 4-site and 5-site data: 350 / 350 secured requests returned the expected HTTP 403.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6666"/>
                </a:solidFill>
                <a:latin typeface="Garamond"/>
                <a:ea typeface="Garamond"/>
                <a:cs typeface="Garamond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11155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4-site results: control-plane latency increases cleanly with DDIL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51560"/>
          <a:ext cx="6446520" cy="4023360"/>
        </p:xfrm>
        <a:graphic>
          <a:graphicData uri="http://schemas.openxmlformats.org/drawingml/2006/table">
            <a:tbl>
              <a:tblPr/>
              <a:tblGrid>
                <a:gridCol w="1280160"/>
                <a:gridCol w="594360"/>
                <a:gridCol w="914400"/>
                <a:gridCol w="914400"/>
                <a:gridCol w="914400"/>
                <a:gridCol w="914400"/>
                <a:gridCol w="914400"/>
              </a:tblGrid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Condition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n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HTTP 403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Mean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Median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P95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P99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Baseline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30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100%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35.0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25.5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77.4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95.4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Mild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30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100%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131.4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105.7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205.0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225.6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Moderate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30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100%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233.5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187.5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337.0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340.3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Severe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30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100%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430.5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338.9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639.1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647.1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Extreme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30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100%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1028.4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777.5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1541.3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1552.7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0" y="1344168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Baseline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8229600" y="1490472"/>
            <a:ext cx="70042" cy="32918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45362" y="1353312"/>
            <a:ext cx="731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35.0 ms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315200" y="2002536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Mild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0" y="2148840"/>
            <a:ext cx="262827" cy="329184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38147" y="2011680"/>
            <a:ext cx="731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131.4 ms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315200" y="2660904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Moderate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229600" y="2807208"/>
            <a:ext cx="467072" cy="32918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42392" y="2670048"/>
            <a:ext cx="731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233.5 ms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7315200" y="3319272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Severe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8229600" y="3465576"/>
            <a:ext cx="861104" cy="329184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36424" y="3328416"/>
            <a:ext cx="731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430.5 ms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7315200" y="397764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Extreme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229600" y="4123944"/>
            <a:ext cx="2056980" cy="32918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332300" y="3986784"/>
            <a:ext cx="731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1028.4 ms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8229600" y="1325880"/>
            <a:ext cx="0" cy="3291840"/>
          </a:xfrm>
          <a:prstGeom prst="line">
            <a:avLst/>
          </a:prstGeom>
          <a:noFill/>
          <a:ln w="10160">
            <a:solidFill>
              <a:srgbClr val="88888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97280" y="5486400"/>
            <a:ext cx="99669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70432" y="5541264"/>
            <a:ext cx="982065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Observation: mean latency rose from 35.0 ms at baseline to 1028.4 ms at extreme DDIL, while all 150 requests retained the expected policy denial.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6666"/>
                </a:solidFill>
                <a:latin typeface="Garamond"/>
                <a:ea typeface="Garamond"/>
                <a:cs typeface="Garamond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11155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5-site results: scale-out preserved policy behaviour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51560"/>
          <a:ext cx="6446520" cy="4023360"/>
        </p:xfrm>
        <a:graphic>
          <a:graphicData uri="http://schemas.openxmlformats.org/drawingml/2006/table">
            <a:tbl>
              <a:tblPr/>
              <a:tblGrid>
                <a:gridCol w="1280160"/>
                <a:gridCol w="594360"/>
                <a:gridCol w="914400"/>
                <a:gridCol w="914400"/>
                <a:gridCol w="914400"/>
                <a:gridCol w="914400"/>
                <a:gridCol w="914400"/>
              </a:tblGrid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Condition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n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HTTP 403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Mean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Median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P95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P99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Baseline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40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100%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42.7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23.7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74.4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405.2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Mild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40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100%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121.3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102.6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178.8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184.0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Moderate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40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100%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219.9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185.7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338.5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351.9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Severe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40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100%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408.2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340.2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635.4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641.5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Extreme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40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100%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968.0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773.1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1535.3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1546.5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0" y="1344168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Baseline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8229600" y="1490472"/>
            <a:ext cx="85483" cy="32918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60803" y="1353312"/>
            <a:ext cx="731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42.7 ms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315200" y="2002536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Mild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0" y="2148840"/>
            <a:ext cx="242659" cy="329184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17979" y="2011680"/>
            <a:ext cx="731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121.3 ms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315200" y="2660904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Moderate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229600" y="2807208"/>
            <a:ext cx="439756" cy="32918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15076" y="2670048"/>
            <a:ext cx="731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219.9 ms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7315200" y="3319272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Severe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8229600" y="3465576"/>
            <a:ext cx="816595" cy="329184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91915" y="3328416"/>
            <a:ext cx="731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408.2 ms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7315200" y="397764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Extreme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229600" y="4123944"/>
            <a:ext cx="1936308" cy="32918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211628" y="3986784"/>
            <a:ext cx="731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2D2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968.0 ms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8229600" y="1325880"/>
            <a:ext cx="0" cy="3291840"/>
          </a:xfrm>
          <a:prstGeom prst="line">
            <a:avLst/>
          </a:prstGeom>
          <a:noFill/>
          <a:ln w="10160">
            <a:solidFill>
              <a:srgbClr val="88888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97280" y="5486400"/>
            <a:ext cx="99669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70432" y="5541264"/>
            <a:ext cx="982065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Observation: after adding Site E, all 200 secured requests still returned HTTP 403; mean extreme latency was 968.0 ms.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6666"/>
                </a:solidFill>
                <a:latin typeface="Garamond"/>
                <a:ea typeface="Garamond"/>
                <a:cs typeface="Garamond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11155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4-site versus 5-site comparison</a:t>
            </a:r>
            <a:endParaRPr lang="en-US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325880"/>
          <a:ext cx="4892040" cy="3474720"/>
        </p:xfrm>
        <a:graphic>
          <a:graphicData uri="http://schemas.openxmlformats.org/drawingml/2006/table">
            <a:tbl>
              <a:tblPr/>
              <a:tblGrid>
                <a:gridCol w="1371600"/>
                <a:gridCol w="1325880"/>
                <a:gridCol w="1325880"/>
                <a:gridCol w="868680"/>
              </a:tblGrid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Condition</a:t>
                      </a:r>
                      <a:endParaRPr lang="en-US" sz="92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4-site mean (ms)</a:t>
                      </a:r>
                      <a:endParaRPr lang="en-US" sz="92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5-site mean (ms)</a:t>
                      </a:r>
                      <a:endParaRPr lang="en-US" sz="92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Difference</a:t>
                      </a:r>
                      <a:endParaRPr lang="en-US" sz="92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Baseline</a:t>
                      </a:r>
                      <a:endParaRPr lang="en-US" sz="92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35.0</a:t>
                      </a:r>
                      <a:endParaRPr lang="en-US" sz="92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42.7</a:t>
                      </a:r>
                      <a:endParaRPr lang="en-US" sz="92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7.7</a:t>
                      </a:r>
                      <a:endParaRPr lang="en-US" sz="92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Mild</a:t>
                      </a:r>
                      <a:endParaRPr lang="en-US" sz="92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131.4</a:t>
                      </a:r>
                      <a:endParaRPr lang="en-US" sz="92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121.3</a:t>
                      </a:r>
                      <a:endParaRPr lang="en-US" sz="92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-10.1</a:t>
                      </a:r>
                      <a:endParaRPr lang="en-US" sz="92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Moderate</a:t>
                      </a:r>
                      <a:endParaRPr lang="en-US" sz="92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233.5</a:t>
                      </a:r>
                      <a:endParaRPr lang="en-US" sz="92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219.9</a:t>
                      </a:r>
                      <a:endParaRPr lang="en-US" sz="92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-13.7</a:t>
                      </a:r>
                      <a:endParaRPr lang="en-US" sz="92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Severe</a:t>
                      </a:r>
                      <a:endParaRPr lang="en-US" sz="92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430.5</a:t>
                      </a:r>
                      <a:endParaRPr lang="en-US" sz="92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408.2</a:t>
                      </a:r>
                      <a:endParaRPr lang="en-US" sz="92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-22.3</a:t>
                      </a:r>
                      <a:endParaRPr lang="en-US" sz="92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Extreme</a:t>
                      </a:r>
                      <a:endParaRPr lang="en-US" sz="92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1028.4</a:t>
                      </a:r>
                      <a:endParaRPr lang="en-US" sz="92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968.0</a:t>
                      </a:r>
                      <a:endParaRPr lang="en-US" sz="92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-60.3</a:t>
                      </a:r>
                      <a:endParaRPr lang="en-US" sz="92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146304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Baseline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965960" y="1417320"/>
            <a:ext cx="94057" cy="16459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965960" y="1664208"/>
            <a:ext cx="114791" cy="164592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2402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Mild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965960" y="2194560"/>
            <a:ext cx="352939" cy="16459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65960" y="2441448"/>
            <a:ext cx="325856" cy="164592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01752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Moderate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965960" y="2971800"/>
            <a:ext cx="627211" cy="16459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65960" y="3218688"/>
            <a:ext cx="590529" cy="164592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79476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Severe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965960" y="3749040"/>
            <a:ext cx="1156339" cy="16459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965960" y="3995928"/>
            <a:ext cx="1096570" cy="164592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45720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Extreme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965960" y="4526280"/>
            <a:ext cx="2762231" cy="16459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965960" y="4773168"/>
            <a:ext cx="2600186" cy="164592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828800" y="5394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■ 4-site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2926080" y="5394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■ 5-site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1828800" y="5760720"/>
            <a:ext cx="85039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901952" y="5815584"/>
            <a:ext cx="835761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fifth site did not introduce a latency penalty in these measurements. DDIL severity dominated the result more strongly than federation size.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6666"/>
                </a:solidFill>
                <a:latin typeface="Garamond"/>
                <a:ea typeface="Garamond"/>
                <a:cs typeface="Garamond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11155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Endpoint consistency: 5-site federation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10881360" cy="2926080"/>
        </p:xfrm>
        <a:graphic>
          <a:graphicData uri="http://schemas.openxmlformats.org/drawingml/2006/table">
            <a:tbl>
              <a:tblPr/>
              <a:tblGrid>
                <a:gridCol w="1417320"/>
                <a:gridCol w="1325880"/>
                <a:gridCol w="1325880"/>
                <a:gridCol w="1463040"/>
                <a:gridCol w="1325880"/>
                <a:gridCol w="1325880"/>
                <a:gridCol w="86868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Site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Baseline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Mild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Moderate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Severe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Extreme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403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Site B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82.5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175.4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331.1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630.0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1532.9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100%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Site C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38.1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100.7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174.5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333.0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791.2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100%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Site D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20.9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100.8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195.1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340.8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775.5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100%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Site E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29.4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108.4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178.7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329.1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772.6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100%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914400" y="4526280"/>
            <a:ext cx="100584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Mean secured request latency in milliseconds. Site B consistently shows the largest DDIL response because it is reached through the routed WAN/DDIL path; the added endpoints remain tightly grouped.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1463040" y="5577840"/>
            <a:ext cx="93268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536192" y="5632704"/>
            <a:ext cx="918057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Policy consistency is the key security result: every measured endpoint and condition returned 100% expected HTTP 403.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6666"/>
                </a:solidFill>
                <a:latin typeface="Garamond"/>
                <a:ea typeface="Garamond"/>
                <a:cs typeface="Garamond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11155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Security design: no single control is trusted alone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85800" y="1463040"/>
            <a:ext cx="457200" cy="4572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57276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280160" y="1417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mTLS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80160" y="17830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D2D2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Trusted site certificate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2651760" y="1700784"/>
            <a:ext cx="246888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71800" y="1463040"/>
            <a:ext cx="457200" cy="457200"/>
          </a:xfrm>
          <a:prstGeom prst="ellipse">
            <a:avLst/>
          </a:prstGeom>
          <a:solidFill>
            <a:srgbClr val="777777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63240" y="157276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66160" y="1417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JWT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17830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D2D2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Signature + issuer + expiry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4937760" y="1700784"/>
            <a:ext cx="246888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257800" y="1463040"/>
            <a:ext cx="457200" cy="4572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9240" y="157276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52160" y="1417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Audience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52160" y="17830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D2D2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aud = federation-api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7223760" y="1700784"/>
            <a:ext cx="246888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543800" y="1463040"/>
            <a:ext cx="457200" cy="457200"/>
          </a:xfrm>
          <a:prstGeom prst="ellipse">
            <a:avLst/>
          </a:prstGeom>
          <a:solidFill>
            <a:srgbClr val="777777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35240" y="157276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138160" y="1417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OPA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38160" y="17830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D2D2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Role/action policy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9509760" y="1700784"/>
            <a:ext cx="246888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829800" y="1463040"/>
            <a:ext cx="457200" cy="45720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21240" y="157276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424160" y="1417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Locality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424160" y="17830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D2D2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Raw data stays local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1280160" y="3063240"/>
            <a:ext cx="96012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53312" y="3118104"/>
            <a:ext cx="945489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Verified across the scale-out experiment: raw-export requests reached the security chain and were denied consistently with HTTP 403.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88720" y="4023360"/>
          <a:ext cx="9784080" cy="1600200"/>
        </p:xfrm>
        <a:graphic>
          <a:graphicData uri="http://schemas.openxmlformats.org/drawingml/2006/table">
            <a:tbl>
              <a:tblPr/>
              <a:tblGrid>
                <a:gridCol w="2011680"/>
                <a:gridCol w="7772400"/>
              </a:tblGrid>
              <a:tr h="266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Control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Evidence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Keycloak / JWKS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Both trusted JWKS endpoints reachable from added sites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Rust validation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Agent loaded trusted keys and came online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mTLS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Added endpoints exposed Nginx TLS frontends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OPA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Protected action remained denied under every DDIL condition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Sovereignty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No requirement to move raw genomic files to new federation endpoints</a:t>
                      </a:r>
                      <a:endParaRPr lang="en-US" sz="8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6666"/>
                </a:solidFill>
                <a:latin typeface="Garamond"/>
                <a:ea typeface="Garamond"/>
                <a:cs typeface="Garamond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11155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Why the private routing fix mattered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85800" y="1234440"/>
            <a:ext cx="2560320" cy="1463040"/>
          </a:xfrm>
          <a:prstGeom prst="cloud">
            <a:avLst/>
          </a:prstGeom>
          <a:solidFill>
            <a:srgbClr val="FFFFFF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807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Site C / D / 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86968" y="1691640"/>
            <a:ext cx="2157984" cy="8961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2D2D2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137.63.148.104–106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2D2D2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Single management NIC</a:t>
            </a:r>
            <a:endParaRPr lang="en-US" sz="840" dirty="0"/>
          </a:p>
        </p:txBody>
      </p:sp>
      <p:sp>
        <p:nvSpPr>
          <p:cNvPr id="6" name="Shape 4"/>
          <p:cNvSpPr/>
          <p:nvPr/>
        </p:nvSpPr>
        <p:spPr>
          <a:xfrm>
            <a:off x="3794760" y="1143000"/>
            <a:ext cx="16459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67912" y="1197864"/>
            <a:ext cx="149961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Router 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137.63.148.179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94760" y="2240280"/>
            <a:ext cx="16459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67912" y="2295144"/>
            <a:ext cx="149961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Router 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137.63.148.26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0" y="914400"/>
            <a:ext cx="2468880" cy="1325880"/>
          </a:xfrm>
          <a:prstGeom prst="cloud">
            <a:avLst/>
          </a:prstGeom>
          <a:solidFill>
            <a:srgbClr val="FFFFFF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0607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Site A Identity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01968" y="1371600"/>
            <a:ext cx="2066544" cy="758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2D2D2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10.10.10.10:9443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2D2D2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Keycloak / JWKS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6400800" y="2514600"/>
            <a:ext cx="2468880" cy="1325880"/>
          </a:xfrm>
          <a:prstGeom prst="cloud">
            <a:avLst/>
          </a:prstGeom>
          <a:solidFill>
            <a:srgbClr val="FFFFFF"/>
          </a:solidFill>
          <a:ln w="1524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6609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Site B Identity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01968" y="2971800"/>
            <a:ext cx="2066544" cy="758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2D2D2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10.20.20.10:9443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2D2D2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Keycloak / JWKS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9509760" y="1737360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82912" y="1792224"/>
            <a:ext cx="1682496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Rust 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loads trusted keys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46120" y="1783080"/>
            <a:ext cx="548640" cy="-27432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3017520" y="1481328"/>
            <a:ext cx="1005840" cy="228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10.10/24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440680" y="1508760"/>
            <a:ext cx="96012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246120" y="2057400"/>
            <a:ext cx="548640" cy="54864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3017520" y="2167128"/>
            <a:ext cx="1005840" cy="228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10.20/24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440680" y="2606040"/>
            <a:ext cx="960120" cy="54864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869680" y="1554480"/>
            <a:ext cx="640080" cy="45720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869680" y="3063240"/>
            <a:ext cx="640080" cy="-73152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triangle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51560" y="4389120"/>
          <a:ext cx="10058400" cy="1051560"/>
        </p:xfrm>
        <a:graphic>
          <a:graphicData uri="http://schemas.openxmlformats.org/drawingml/2006/table">
            <a:tbl>
              <a:tblPr/>
              <a:tblGrid>
                <a:gridCol w="1965960"/>
                <a:gridCol w="2148840"/>
                <a:gridCol w="3017520"/>
                <a:gridCol w="2926080"/>
              </a:tblGrid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Destination</a:t>
                      </a:r>
                      <a:endParaRPr lang="en-US" sz="9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Next hop</a:t>
                      </a:r>
                      <a:endParaRPr lang="en-US" sz="9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Purpose</a:t>
                      </a:r>
                      <a:endParaRPr lang="en-US" sz="9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Validation</a:t>
                      </a:r>
                      <a:endParaRPr lang="en-US" sz="9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10.10.10.0/24</a:t>
                      </a:r>
                      <a:endParaRPr lang="en-US" sz="9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137.63.148.179</a:t>
                      </a:r>
                      <a:endParaRPr lang="en-US" sz="9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Site A issuer/JWKS</a:t>
                      </a:r>
                      <a:endParaRPr lang="en-US" sz="9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TCP 9443 + JWKS PASS</a:t>
                      </a:r>
                      <a:endParaRPr lang="en-US" sz="9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10.20.20.0/24</a:t>
                      </a:r>
                      <a:endParaRPr lang="en-US" sz="9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137.63.148.26</a:t>
                      </a:r>
                      <a:endParaRPr lang="en-US" sz="9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Site B issuer/JWKS</a:t>
                      </a:r>
                      <a:endParaRPr lang="en-US" sz="9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TCP 9443 + JWKS PASS</a:t>
                      </a:r>
                      <a:endParaRPr lang="en-US" sz="9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1554480" y="5715000"/>
            <a:ext cx="90525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627632" y="5769864"/>
            <a:ext cx="890625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Result: new sites can validate federation JWTs without changing issuer values or weakening signature validation.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6666"/>
                </a:solidFill>
                <a:latin typeface="Garamond"/>
                <a:ea typeface="Garamond"/>
                <a:cs typeface="Garamond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11155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What the scale experiment teaches us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156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Adding Sites C, D and E did not bypass the security policy: all measured raw-export requests were denied as intended.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DDIL severity produced a clear rise in control-plane latency in both 4-site and 5-site tests.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The 5-site federation behaved similarly to the 4-site federation; federation size was not the dominant latency factor.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Site B remained the slowest endpoint under impairment because it traversed the routed WAN/DDIL path.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Lightweight federation endpoints are sufficient for scale/control-plane evaluation without recreating full worker/storage stacks at every added site.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554480" y="4983480"/>
            <a:ext cx="90525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27632" y="5038344"/>
            <a:ext cx="89062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Updated claim: security behaviour remained stable while the federation grew from 3 to 5 participating sites.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6666"/>
                </a:solidFill>
                <a:latin typeface="Garamond"/>
                <a:ea typeface="Garamond"/>
                <a:cs typeface="Garamond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11155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Limitations and one remaining error</a:t>
            </a:r>
            <a:endParaRPr lang="en-US" sz="2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43000"/>
          <a:ext cx="10881360" cy="3886200"/>
        </p:xfrm>
        <a:graphic>
          <a:graphicData uri="http://schemas.openxmlformats.org/drawingml/2006/table">
            <a:tbl>
              <a:tblPr/>
              <a:tblGrid>
                <a:gridCol w="2194560"/>
                <a:gridCol w="8686800"/>
              </a:tblGrid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Item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Status / interpretation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3-site latency summary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No aggregate timing CSV was supplied; only deployment/security validation is reported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4-site DDIL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Completed successfully: 150 / 150 expected HTTP 403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5-site DDIL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Completed successfully: 200 / 200 expected HTTP 403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Resource scaling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Optional Site B resource-scaling stage encountered a recoverability/startup problem after scale tests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Scope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The scale results measure secured control-plane/policy latency, not full uncached genomic workflow completion time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1188720" y="5349240"/>
            <a:ext cx="978408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61872" y="5404104"/>
            <a:ext cx="963777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resource-scaling error occurred after the multi-site DDIL tests; it does not invalidate the 4-site and 5-site scale results.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6666"/>
                </a:solidFill>
                <a:latin typeface="Garamond"/>
                <a:ea typeface="Garamond"/>
                <a:cs typeface="Garamond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11155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Evidence package produced</a:t>
            </a:r>
            <a:endParaRPr lang="en-US" sz="2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188720"/>
          <a:ext cx="10287000" cy="4251960"/>
        </p:xfrm>
        <a:graphic>
          <a:graphicData uri="http://schemas.openxmlformats.org/drawingml/2006/table">
            <a:tbl>
              <a:tblPr/>
              <a:tblGrid>
                <a:gridCol w="3200400"/>
                <a:gridCol w="7086600"/>
              </a:tblGrid>
              <a:tr h="531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Evidence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File / location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4/5-site aggregate statistics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federation_scale_aggregate_summary.csv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Per-endpoint statistics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federation_scale_endpoint_summary.csv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Raw scale experiment data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/root/genomics-scale-experiment/data/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Deployment / failure logs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/root/genomics-scale-experiment/logs/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Original workflow DDIL summary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~/genomics-midterm/results/ddil-summary.csv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Original presentation results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~/genomics-midterm/results/presentation-results.csv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Network / metrics evidence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~/genomics-midterm/logs/network/ and logs/metrics/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6576" marR="36576" marT="36576" marB="36576" anchor="mid">
                    <a:lnL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1371600" y="5669280"/>
            <a:ext cx="94183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444752" y="5724144"/>
            <a:ext cx="9272016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results shown in this updated deck are tied directly to recorded experiment outputs rather than manually adjusted values.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6666"/>
                </a:solidFill>
                <a:latin typeface="Garamond"/>
                <a:ea typeface="Garamond"/>
                <a:cs typeface="Garamond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11155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Live demo plan for the examiner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10332720" cy="4160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Show Site A and Site B Keycloak issuers and JWKS endpoints.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Show a researcher JWT and verify aud = federation-api.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Show Site C/D/E health and persistent routes to both private identity networks.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Call /jobs without JWT and show HTTP 401.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Call a protected endpoint without mTLS and show rejection.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Submit a permitted cross-site request and show 202 Accepted at the execution site.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Show raw-export returning HTTP 403 across the federation.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Open the 4-site and 5-site result tables and explain the DDIL latency trend.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463040" y="5577840"/>
            <a:ext cx="92354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36192" y="5632704"/>
            <a:ext cx="908913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Demo message: the federation can grow while trust, policy enforcement and raw-data locality remain intact.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6666"/>
                </a:solidFill>
                <a:latin typeface="Garamond"/>
                <a:ea typeface="Garamond"/>
                <a:cs typeface="Garamond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11155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Next improvements after the midterm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68680" y="1143000"/>
            <a:ext cx="10515600" cy="4389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Capture and retain a complete 3-site quantitative latency summary so 3/4/5 can be compared on the same metric.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Repair and rerun the Site B resource-scaling stage separately from the DDIL scale experiment.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Run more repetitions per condition when stronger compute resources are available.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Add uncached full-workflow benchmarking to separate network effects from Nextflow/Slurm execution effects.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Add institution-specific Keycloak issuers at future sites if the prototype is extended beyond trust in Sites A and B.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Extend OPA policies to dataset consent, project membership, audit review and result-release rules.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6666"/>
                </a:solidFill>
                <a:latin typeface="Garamond"/>
                <a:ea typeface="Garamond"/>
                <a:cs typeface="Garamond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11155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Final claim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60120" y="10515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This prototype now demonstrates a secure sovereign genomics federation that scales from the original two-site implementation to five participating sites.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2148840"/>
            <a:ext cx="923544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Raw genomic data remains under local institutional control.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Researchers authenticate using Keycloak JWTs.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Sites authenticate using Nginx mTLS.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Rust validates trusted JWT keys, issuer, expiry and federation-api audience.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OPA enforces action-level authorization.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Added sites use persistent routes to trusted private identity networks.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4-site and 5-site DDIL tests showed predictable latency growth while every measured protected export request remained denied.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508760" y="5486400"/>
            <a:ext cx="91440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81912" y="5541264"/>
            <a:ext cx="899769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 short: collaboration can scale without surrendering data control or weakening the policy boundary.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6666"/>
                </a:solidFill>
                <a:latin typeface="Garamond"/>
                <a:ea typeface="Garamond"/>
                <a:cs typeface="Garamond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aramo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aramon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Makerere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Sovereign Community Cloud Infrastructure for Genomics in Resource-Constrained Settings</dc:title>
  <dc:subject>Federated Sovereign Genomics Cloud</dc:subject>
  <dc:creator>Fredrick Tamale</dc:creator>
  <cp:lastModifiedBy>Fredrick Tamale</cp:lastModifiedBy>
  <cp:revision>1</cp:revision>
  <dcterms:created xsi:type="dcterms:W3CDTF">2026-10-07T19:58:42Z</dcterms:created>
  <dcterms:modified xsi:type="dcterms:W3CDTF">2026-10-07T19:58:42Z</dcterms:modified>
</cp:coreProperties>
</file>
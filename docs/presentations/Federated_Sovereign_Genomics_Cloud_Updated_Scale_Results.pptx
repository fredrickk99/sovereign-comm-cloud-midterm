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Title and course metadata follow the uploaded presentation title page. Deployment log provides the new scale-run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Deployment log lines 121-139 show site-d route and Keycloak reachability checks. Lines 237-250 show Site D JWKS and health readiness. Lines 694-824 show Site E route/JWKS/health readiness. Lines 1064-1071 show the Site B resource-scaling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Architecture is derived from implemented IP topology in the deployment log: site-d and site-e routes use 10.10.10.0/24 via 137.63.148.179 and 10.20.20.0/24 via 137.63.148.26; added sites expose Nginx mTLS on 137.63.148.105:8443 and 137.63.148.106:8443.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Site D and Site E logs show route lookup to 10.10.10.10 through 137.63.148.179 and 10.20.20.10 through 137.63.148.26, followed by Keycloak TCP PASS and JWKS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Deployment log lines 237-250 show Site D JWKS passes and health online. Lines 810-824 show Site E JWKS passes and health online. Lines 253-264 and 827-838 show Nginx mTLS health for Site D and Site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DDIL run lines show qdisc netem changes for mild/moderate/severe/extreme profiles and all measurement lines end with HTTP 403.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4-site results are parsed from the deployment log lines 268-430. The table aggregates 30 runs per condition across Site B, Site C and Site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5-site results are parsed from deployment log lines 841-1058. The table aggregates 40 runs per condition across Site B, C, D and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Comparison uses aggregate summary computed from all 350 run lines in the uploaded deployment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Endpoint detail for 4-site federation is aggregated from Site B, Site C and Site D measurement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Endpoint detail for 5-site federation is aggregated from Site B, Site C, Site D and Site E measurement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Site D and Site E logs verify JWKS PASS, federation-agent online, and Nginx mTLS listener/health. Measurement lines show expected HTTP 403 outcomes across DDIL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resource-scaling error appears in deployment log lines 1064-1071 after the 5-site DDIL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These next steps are derived from the single error at the resource-scaling stage and the successful prior deployment/measurement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Final claim is based on successful Site D/E deployment, the complete 4-site and 5-site DDIL measurement sequences, and the single subsequent resource-scaling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Federated Sovereign Genomics Cloud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</a:rPr>
              <a:t>Updated 4-site and 5-site DDIL Scale Results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463040" y="1828800"/>
            <a:ext cx="923544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488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Sovereign Community Cloud Infrastructure for Genomics in Resource-Constrained Settings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MCS 7101: Cloud Technologies and Architectures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Fredrick Tamale | 2600722751 | 2026/HD05/22751U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416052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4233672"/>
            <a:ext cx="172821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4 sites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150 runs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66360" y="416052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9512" y="4233672"/>
            <a:ext cx="172821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5 sites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200 runs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0" y="416052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4233672"/>
            <a:ext cx="172821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350 / 350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HTTP 403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status: scale tests passed; resource-scaling hit one error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1732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New DDIL measurements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" y="166420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350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213055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4-site + 5-site control-plane requests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063240" y="13258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141732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Policy outcome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72968" y="166420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100%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72968" y="213055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all measured requests returned HTTP 403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394960" y="13258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141732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Deployment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04688" y="166420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Site D/E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04688" y="213055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joined federation and came online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726680" y="13258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141732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One issue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36408" y="166420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Site 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836408" y="213055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resource resize/return failed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3017520"/>
            <a:ext cx="52578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No error was observed in the Site D and Site E deployment stages.</a:t>
            </a:r>
            <a:endParaRPr lang="en-US" sz="1200" dirty="0"/>
          </a:p>
          <a:p>
            <a:r>
              <a:rPr lang="en-US" sz="1200" dirty="0">
                <a:solidFill>
                  <a:srgbClr val="000000"/>
                </a:solidFill>
              </a:rPr>
              <a:t>Federation routes, JWKS verification, Rust agent health, and Nginx mTLS passed for added sites.</a:t>
            </a:r>
            <a:endParaRPr lang="en-US" sz="1200" dirty="0"/>
          </a:p>
          <a:p>
            <a:r>
              <a:rPr lang="en-US" sz="1200" dirty="0">
                <a:solidFill>
                  <a:srgbClr val="000000"/>
                </a:solidFill>
              </a:rPr>
              <a:t>All 4-site and 5-site DDIL control-plane requests produced the expected policy denial.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017520"/>
            <a:ext cx="47548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The only reported error is after the 5-site tests: b-core did not return after the resource change.</a:t>
            </a:r>
            <a:endParaRPr lang="en-US" sz="1200" dirty="0"/>
          </a:p>
          <a:p>
            <a:r>
              <a:rPr lang="en-US" sz="1200" dirty="0">
                <a:solidFill>
                  <a:srgbClr val="000000"/>
                </a:solidFill>
              </a:rPr>
              <a:t>Therefore, resource-scaling results should be marked incomplete, not mixed with the DDIL scale results.</a:t>
            </a:r>
            <a:endParaRPr lang="en-US" sz="1200" dirty="0"/>
          </a:p>
          <a:p>
            <a:r>
              <a:rPr lang="en-US" sz="1200" dirty="0">
                <a:solidFill>
                  <a:srgbClr val="000000"/>
                </a:solidFill>
              </a:rPr>
              <a:t>Next action: recover/boot b-core, confirm SSH, then rerun only the resource-scaling section.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cloud architecture implemented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60120"/>
            <a:ext cx="10927080" cy="530352"/>
          </a:xfrm>
          <a:prstGeom prst="roundRect">
            <a:avLst>
              <a:gd name="adj" fmla="val 17241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78992"/>
            <a:ext cx="105156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Management / Proxmox network: 137.63.148.0/24 (VM access, cloning, monitoring)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200400" cy="1828800"/>
          </a:xfrm>
          <a:prstGeom prst="cloud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48840"/>
            <a:ext cx="26060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Site A Cloud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10.10.10.0/24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a-core 10.10.10.10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Keycloak + Rust + OPA + Nginx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a-worker + local data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8275320" y="1828800"/>
            <a:ext cx="3200400" cy="1828800"/>
          </a:xfrm>
          <a:prstGeom prst="cloud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2148840"/>
            <a:ext cx="26060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Site B Cloud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10.20.20.0/24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b-core 10.20.20.10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Keycloak + Rust + OPA + Nginx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b-worker + local data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297680" y="233172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2404872"/>
            <a:ext cx="950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000000"/>
                </a:solidFill>
              </a:rPr>
              <a:t>Router A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000000"/>
                </a:solidFill>
              </a:rPr>
              <a:t>137.63.148.179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000000"/>
                </a:solidFill>
              </a:rPr>
              <a:t>10.255.0.1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793992" y="233172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144" y="2404872"/>
            <a:ext cx="950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000000"/>
                </a:solidFill>
              </a:rPr>
              <a:t>Router B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000000"/>
                </a:solidFill>
              </a:rPr>
              <a:t>137.63.148.26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000000"/>
                </a:solidFill>
              </a:rPr>
              <a:t>10.255.0.2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394960" y="2615184"/>
            <a:ext cx="1399032" cy="0"/>
          </a:xfrm>
          <a:prstGeom prst="line">
            <a:avLst/>
          </a:prstGeom>
          <a:noFill/>
          <a:ln w="1778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504688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WAN 10.255.0.0/30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49040" y="2606040"/>
            <a:ext cx="548640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91272" y="2606040"/>
            <a:ext cx="411480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160520"/>
            <a:ext cx="2331720" cy="1371600"/>
          </a:xfrm>
          <a:prstGeom prst="clou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4434840"/>
            <a:ext cx="1828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Site C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137.63.148.104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VM 609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Rust + OPA + Nginx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2377440" y="4343400"/>
            <a:ext cx="2743200" cy="-141732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66160" y="4343400"/>
            <a:ext cx="3383280" cy="-141732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00600" y="4160520"/>
            <a:ext cx="2331720" cy="1371600"/>
          </a:xfrm>
          <a:prstGeom prst="clou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4434840"/>
            <a:ext cx="1828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Site D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137.63.148.105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VM 610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Rust + OPA + Nginx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349240" y="4343400"/>
            <a:ext cx="811530" cy="-141732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37960" y="4343400"/>
            <a:ext cx="411480" cy="-141732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72400" y="4160520"/>
            <a:ext cx="2331720" cy="1371600"/>
          </a:xfrm>
          <a:prstGeom prst="clou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4434840"/>
            <a:ext cx="1828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Site E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137.63.148.106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VM 611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000000"/>
                </a:solidFill>
              </a:rPr>
              <a:t>Rust + OPA + Nginx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8321040" y="4343400"/>
            <a:ext cx="-1120140" cy="-141732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09760" y="4343400"/>
            <a:ext cx="-2560320" cy="-141732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Added sites use persistent routes: 10.10.10.0/24 via Router A and 10.20.20.0/24 via Router B; raw data remains local at each owning site.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routing fix mattered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07592"/>
            <a:ext cx="213969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Site C / D /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137.63.148.104–106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94760" y="86868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67912" y="941832"/>
            <a:ext cx="20482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Router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137.63.148.179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94760" y="178308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67912" y="1856232"/>
            <a:ext cx="20482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Router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137.63.148.26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86868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941832"/>
            <a:ext cx="195681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Site A Keycloak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10.10.10.10:9443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20840" y="178308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3992" y="1856232"/>
            <a:ext cx="195681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Site B Keycloak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10.20.20.10:9443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555480" y="13258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8632" y="1399032"/>
            <a:ext cx="15910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Rust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loads 4 keys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1600200"/>
            <a:ext cx="777240" cy="-38404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17520" y="1600200"/>
            <a:ext cx="777240" cy="38404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89320" y="1207008"/>
            <a:ext cx="7315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89320" y="2121408"/>
            <a:ext cx="7315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23960" y="1207008"/>
            <a:ext cx="731520" cy="3200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23960" y="2121408"/>
            <a:ext cx="731520" cy="-3200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68680" y="2971800"/>
            <a:ext cx="10424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Verified route entries installed on added sites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3520440"/>
            <a:ext cx="2194560" cy="518160"/>
          </a:xfrm>
          <a:prstGeom prst="roundRect">
            <a:avLst>
              <a:gd name="adj" fmla="val 1411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593592"/>
            <a:ext cx="2048256" cy="371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Destination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08960" y="3520440"/>
            <a:ext cx="2194560" cy="518160"/>
          </a:xfrm>
          <a:prstGeom prst="roundRect">
            <a:avLst>
              <a:gd name="adj" fmla="val 1411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82112" y="3593592"/>
            <a:ext cx="2048256" cy="371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Next hop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3520440"/>
            <a:ext cx="2834640" cy="518160"/>
          </a:xfrm>
          <a:prstGeom prst="roundRect">
            <a:avLst>
              <a:gd name="adj" fmla="val 1411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76672" y="3593592"/>
            <a:ext cx="2688336" cy="371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Purpose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38160" y="3520440"/>
            <a:ext cx="3108960" cy="518160"/>
          </a:xfrm>
          <a:prstGeom prst="roundRect">
            <a:avLst>
              <a:gd name="adj" fmla="val 1411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11312" y="3593592"/>
            <a:ext cx="2962656" cy="371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" y="4038600"/>
            <a:ext cx="2194560" cy="518160"/>
          </a:xfrm>
          <a:prstGeom prst="roundRect">
            <a:avLst>
              <a:gd name="adj" fmla="val 1411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4111752"/>
            <a:ext cx="2048256" cy="371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10.10.10.0/24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08960" y="4038600"/>
            <a:ext cx="2194560" cy="518160"/>
          </a:xfrm>
          <a:prstGeom prst="roundRect">
            <a:avLst>
              <a:gd name="adj" fmla="val 1411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2112" y="4111752"/>
            <a:ext cx="2048256" cy="371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137.63.148.179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4038600"/>
            <a:ext cx="2834640" cy="518160"/>
          </a:xfrm>
          <a:prstGeom prst="roundRect">
            <a:avLst>
              <a:gd name="adj" fmla="val 1411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4111752"/>
            <a:ext cx="2688336" cy="371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Site A issuer/JWKS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38160" y="4038600"/>
            <a:ext cx="3108960" cy="518160"/>
          </a:xfrm>
          <a:prstGeom prst="roundRect">
            <a:avLst>
              <a:gd name="adj" fmla="val 1411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11312" y="4111752"/>
            <a:ext cx="2962656" cy="371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TCP 9443 PASS + JWKS 2 keys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" y="4556760"/>
            <a:ext cx="2194560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" y="4629912"/>
            <a:ext cx="2048256" cy="371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10.20.20.0/24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08960" y="4556760"/>
            <a:ext cx="2194560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82112" y="4629912"/>
            <a:ext cx="2048256" cy="371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137.63.148.26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03520" y="4556760"/>
            <a:ext cx="2834640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4629912"/>
            <a:ext cx="2688336" cy="371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Site B issuer/JWKS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38160" y="4556760"/>
            <a:ext cx="3108960" cy="51816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11312" y="4629912"/>
            <a:ext cx="2962656" cy="371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TCP 9443 PASS + JWKS 2 keys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05840" y="5486400"/>
            <a:ext cx="10241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Result: added sites can validate federation-api JWTs without changing issuer values or weakening signature validation.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evidence for new sites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1097280" cy="605790"/>
          </a:xfrm>
          <a:prstGeom prst="roundRect">
            <a:avLst>
              <a:gd name="adj" fmla="val 1207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07592"/>
            <a:ext cx="95097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0" y="1234440"/>
            <a:ext cx="914400" cy="605790"/>
          </a:xfrm>
          <a:prstGeom prst="roundRect">
            <a:avLst>
              <a:gd name="adj" fmla="val 1207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01952" y="1307592"/>
            <a:ext cx="76809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VMID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234440"/>
            <a:ext cx="1828800" cy="605790"/>
          </a:xfrm>
          <a:prstGeom prst="roundRect">
            <a:avLst>
              <a:gd name="adj" fmla="val 1207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307592"/>
            <a:ext cx="168249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Static IP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2011680" cy="605790"/>
          </a:xfrm>
          <a:prstGeom prst="roundRect">
            <a:avLst>
              <a:gd name="adj" fmla="val 1207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307592"/>
            <a:ext cx="186537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Private routes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1234440"/>
            <a:ext cx="1005840" cy="605790"/>
          </a:xfrm>
          <a:prstGeom prst="roundRect">
            <a:avLst>
              <a:gd name="adj" fmla="val 1207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1307592"/>
            <a:ext cx="85953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JWKS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234440"/>
            <a:ext cx="1463040" cy="605790"/>
          </a:xfrm>
          <a:prstGeom prst="roundRect">
            <a:avLst>
              <a:gd name="adj" fmla="val 1207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307592"/>
            <a:ext cx="131673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 health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52560" y="1234440"/>
            <a:ext cx="1188720" cy="605790"/>
          </a:xfrm>
          <a:prstGeom prst="roundRect">
            <a:avLst>
              <a:gd name="adj" fmla="val 1207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1307592"/>
            <a:ext cx="104241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Nginx mTLS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1840230"/>
            <a:ext cx="109728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1913382"/>
            <a:ext cx="95097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Site 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0" y="1840230"/>
            <a:ext cx="91440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01952" y="1913382"/>
            <a:ext cx="76809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609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1840230"/>
            <a:ext cx="182880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1913382"/>
            <a:ext cx="168249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137.63.148.104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1840230"/>
            <a:ext cx="201168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1913382"/>
            <a:ext cx="186537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Installed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1840230"/>
            <a:ext cx="100584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1913382"/>
            <a:ext cx="85953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PASS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89520" y="1840230"/>
            <a:ext cx="146304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1913382"/>
            <a:ext cx="131673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Online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52560" y="1840230"/>
            <a:ext cx="118872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25712" y="1913382"/>
            <a:ext cx="104241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8443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2446020"/>
            <a:ext cx="1097280" cy="605790"/>
          </a:xfrm>
          <a:prstGeom prst="roundRect">
            <a:avLst>
              <a:gd name="adj" fmla="val 1207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2519172"/>
            <a:ext cx="95097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Site 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0" y="2446020"/>
            <a:ext cx="914400" cy="605790"/>
          </a:xfrm>
          <a:prstGeom prst="roundRect">
            <a:avLst>
              <a:gd name="adj" fmla="val 1207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01952" y="2519172"/>
            <a:ext cx="76809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610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0" y="2446020"/>
            <a:ext cx="1828800" cy="605790"/>
          </a:xfrm>
          <a:prstGeom prst="roundRect">
            <a:avLst>
              <a:gd name="adj" fmla="val 1207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16352" y="2519172"/>
            <a:ext cx="168249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137.63.148.105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2446020"/>
            <a:ext cx="2011680" cy="605790"/>
          </a:xfrm>
          <a:prstGeom prst="roundRect">
            <a:avLst>
              <a:gd name="adj" fmla="val 1207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2519172"/>
            <a:ext cx="186537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Installed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83680" y="2446020"/>
            <a:ext cx="1005840" cy="605790"/>
          </a:xfrm>
          <a:prstGeom prst="roundRect">
            <a:avLst>
              <a:gd name="adj" fmla="val 1207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56832" y="2519172"/>
            <a:ext cx="85953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PASS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89520" y="2446020"/>
            <a:ext cx="1463040" cy="605790"/>
          </a:xfrm>
          <a:prstGeom prst="roundRect">
            <a:avLst>
              <a:gd name="adj" fmla="val 1207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62672" y="2519172"/>
            <a:ext cx="131673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Online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052560" y="2446020"/>
            <a:ext cx="1188720" cy="605790"/>
          </a:xfrm>
          <a:prstGeom prst="roundRect">
            <a:avLst>
              <a:gd name="adj" fmla="val 1207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25712" y="2519172"/>
            <a:ext cx="104241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8443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1520" y="3051810"/>
            <a:ext cx="109728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" y="3124962"/>
            <a:ext cx="95097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Site 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828800" y="3051810"/>
            <a:ext cx="91440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01952" y="3124962"/>
            <a:ext cx="76809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611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0" y="3051810"/>
            <a:ext cx="182880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16352" y="3124962"/>
            <a:ext cx="168249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137.63.148.106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3051810"/>
            <a:ext cx="201168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45152" y="3124962"/>
            <a:ext cx="186537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Installed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583680" y="3051810"/>
            <a:ext cx="100584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56832" y="3124962"/>
            <a:ext cx="85953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PASS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589520" y="3051810"/>
            <a:ext cx="146304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62672" y="3124962"/>
            <a:ext cx="131673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Online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052560" y="3051810"/>
            <a:ext cx="1188720" cy="605790"/>
          </a:xfrm>
          <a:prstGeom prst="roundRect">
            <a:avLst>
              <a:gd name="adj" fmla="val 1207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25712" y="3124962"/>
            <a:ext cx="1042416" cy="4594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8443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60120" y="416052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69848" y="425196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Site 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069848" y="4498848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online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1069848" y="496519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federation-agent READY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429000" y="416052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38728" y="425196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Site 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538728" y="4498848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online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3538728" y="496519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federation-agent READY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897880" y="416052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07608" y="425196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Nginx mTLS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007608" y="4498848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PASS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6007608" y="496519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8443 listener + health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366760" y="416052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76488" y="425196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JWKS keys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476488" y="4498848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4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8476488" y="496519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 from each issuer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Updated DDIL scale experiment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2011680" cy="484632"/>
          </a:xfrm>
          <a:prstGeom prst="roundRect">
            <a:avLst>
              <a:gd name="adj" fmla="val 1509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261872"/>
            <a:ext cx="1865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Variable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697480" y="1188720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70632" y="1261872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Baseline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34840" y="1188720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261872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Mild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1261872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Moderate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909560" y="1188720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2712" y="1261872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Severe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646920" y="1188720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20072" y="1261872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Extreme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" y="1673352"/>
            <a:ext cx="2011680" cy="484632"/>
          </a:xfrm>
          <a:prstGeom prst="roundRect">
            <a:avLst>
              <a:gd name="adj" fmla="val 1509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1746504"/>
            <a:ext cx="1865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Added latency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97480" y="1673352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0632" y="1746504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0 ms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34840" y="1673352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1746504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25 ms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72200" y="1673352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746504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50 ms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909560" y="1673352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82712" y="1746504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100 ms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646920" y="1673352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0072" y="1746504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250 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2157984"/>
            <a:ext cx="201168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2231136"/>
            <a:ext cx="1865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Measurement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97480" y="2157984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2231136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/raw-export secured call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34840" y="2157984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7992" y="2231136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expected HTTP 403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72200" y="2157984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2231136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expected HTTP 403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909560" y="2157984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82712" y="2231136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expected HTTP 403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646920" y="2157984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20072" y="2231136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expected HTTP 403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5800" y="2642616"/>
            <a:ext cx="2011680" cy="484632"/>
          </a:xfrm>
          <a:prstGeom prst="roundRect">
            <a:avLst>
              <a:gd name="adj" fmla="val 1509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" y="2715768"/>
            <a:ext cx="1865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4-site runs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697480" y="2642616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70632" y="2715768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30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434840" y="2642616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07992" y="2715768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30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72200" y="2642616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5352" y="2715768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30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909560" y="2642616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82712" y="2715768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30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646920" y="2642616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20072" y="2715768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30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85800" y="3127248"/>
            <a:ext cx="201168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" y="3200400"/>
            <a:ext cx="1865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5-site runs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697480" y="3127248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70632" y="3200400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40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434840" y="3127248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07992" y="3200400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40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72200" y="3127248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45352" y="3200400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40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909560" y="3127248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82712" y="3200400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40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646920" y="3127248"/>
            <a:ext cx="17373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20072" y="3200400"/>
            <a:ext cx="15910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40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14400" y="4069080"/>
            <a:ext cx="10241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The expected HTTP 403 is a success condition: the request reaches Nginx mTLS, Rust JWT validation and OPA, then raw export is denied.</a:t>
            </a:r>
            <a:endParaRPr lang="en-US" sz="1200" dirty="0"/>
          </a:p>
          <a:p>
            <a:r>
              <a:rPr lang="en-US" sz="1200" dirty="0">
                <a:solidFill>
                  <a:srgbClr val="000000"/>
                </a:solidFill>
              </a:rPr>
              <a:t>This test isolates federation control-plane resilience under DDIL latency while preserving the raw-data locality guarantee.</a:t>
            </a:r>
            <a:endParaRPr lang="en-US" sz="1200" dirty="0"/>
          </a:p>
          <a:p>
            <a:r>
              <a:rPr lang="en-US" sz="1200" dirty="0">
                <a:solidFill>
                  <a:srgbClr val="000000"/>
                </a:solidFill>
              </a:rPr>
              <a:t>All 350 recorded 4-site and 5-site measurements returned the expected 403 policy denial.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4-site results: control-plane latency increases with DDIL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43000"/>
            <a:ext cx="1143000" cy="693420"/>
          </a:xfrm>
          <a:prstGeom prst="roundRect">
            <a:avLst>
              <a:gd name="adj" fmla="val 1054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216152"/>
            <a:ext cx="99669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Condition</a:t>
            </a:r>
            <a:endParaRPr lang="en-US" sz="810" dirty="0"/>
          </a:p>
        </p:txBody>
      </p:sp>
      <p:sp>
        <p:nvSpPr>
          <p:cNvPr id="6" name="Shape 4"/>
          <p:cNvSpPr/>
          <p:nvPr/>
        </p:nvSpPr>
        <p:spPr>
          <a:xfrm>
            <a:off x="1783080" y="1143000"/>
            <a:ext cx="502920" cy="6934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56232" y="1216152"/>
            <a:ext cx="35661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n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2286000" y="1143000"/>
            <a:ext cx="594360" cy="69342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1216152"/>
            <a:ext cx="44805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403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2880360" y="11430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2161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Mean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3886200" y="11430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9352" y="12161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Median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4892040" y="11430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2161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P95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5897880" y="11430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1032" y="12161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P99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640080" y="1836420"/>
            <a:ext cx="114300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1909572"/>
            <a:ext cx="99669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Baseline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1783080" y="1836420"/>
            <a:ext cx="502920" cy="693420"/>
          </a:xfrm>
          <a:prstGeom prst="roundRect">
            <a:avLst>
              <a:gd name="adj" fmla="val 1454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56232" y="1909572"/>
            <a:ext cx="35661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30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2286000" y="1836420"/>
            <a:ext cx="594360" cy="69342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1909572"/>
            <a:ext cx="44805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100%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2880360" y="183642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53512" y="190957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35.0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3886200" y="183642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9352" y="190957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25.5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4892040" y="183642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190957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77.4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5897880" y="183642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71032" y="190957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95.4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640080" y="2529840"/>
            <a:ext cx="114300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2602992"/>
            <a:ext cx="99669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Mild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1783080" y="2529840"/>
            <a:ext cx="502920" cy="6934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56232" y="2602992"/>
            <a:ext cx="35661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30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2286000" y="2529840"/>
            <a:ext cx="594360" cy="6934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9152" y="2602992"/>
            <a:ext cx="44805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100%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2880360" y="252984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53512" y="260299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131.4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3886200" y="252984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59352" y="260299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105.7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4892040" y="252984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5192" y="260299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205.0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5897880" y="252984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71032" y="260299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225.6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640080" y="3223260"/>
            <a:ext cx="114300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3296412"/>
            <a:ext cx="99669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Moderate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1783080" y="3223260"/>
            <a:ext cx="502920" cy="693420"/>
          </a:xfrm>
          <a:prstGeom prst="roundRect">
            <a:avLst>
              <a:gd name="adj" fmla="val 1454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56232" y="3296412"/>
            <a:ext cx="35661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30</a:t>
            </a:r>
            <a:endParaRPr lang="en-US" sz="810" dirty="0"/>
          </a:p>
        </p:txBody>
      </p:sp>
      <p:sp>
        <p:nvSpPr>
          <p:cNvPr id="50" name="Shape 48"/>
          <p:cNvSpPr/>
          <p:nvPr/>
        </p:nvSpPr>
        <p:spPr>
          <a:xfrm>
            <a:off x="2286000" y="3223260"/>
            <a:ext cx="594360" cy="69342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59152" y="3296412"/>
            <a:ext cx="44805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100%</a:t>
            </a:r>
            <a:endParaRPr lang="en-US" sz="810" dirty="0"/>
          </a:p>
        </p:txBody>
      </p:sp>
      <p:sp>
        <p:nvSpPr>
          <p:cNvPr id="52" name="Shape 50"/>
          <p:cNvSpPr/>
          <p:nvPr/>
        </p:nvSpPr>
        <p:spPr>
          <a:xfrm>
            <a:off x="2880360" y="322326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53512" y="329641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233.5</a:t>
            </a:r>
            <a:endParaRPr lang="en-US" sz="810" dirty="0"/>
          </a:p>
        </p:txBody>
      </p:sp>
      <p:sp>
        <p:nvSpPr>
          <p:cNvPr id="54" name="Shape 52"/>
          <p:cNvSpPr/>
          <p:nvPr/>
        </p:nvSpPr>
        <p:spPr>
          <a:xfrm>
            <a:off x="3886200" y="322326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59352" y="329641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187.5</a:t>
            </a:r>
            <a:endParaRPr lang="en-US" sz="810" dirty="0"/>
          </a:p>
        </p:txBody>
      </p:sp>
      <p:sp>
        <p:nvSpPr>
          <p:cNvPr id="56" name="Shape 54"/>
          <p:cNvSpPr/>
          <p:nvPr/>
        </p:nvSpPr>
        <p:spPr>
          <a:xfrm>
            <a:off x="4892040" y="322326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65192" y="329641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337.0</a:t>
            </a:r>
            <a:endParaRPr lang="en-US" sz="810" dirty="0"/>
          </a:p>
        </p:txBody>
      </p:sp>
      <p:sp>
        <p:nvSpPr>
          <p:cNvPr id="58" name="Shape 56"/>
          <p:cNvSpPr/>
          <p:nvPr/>
        </p:nvSpPr>
        <p:spPr>
          <a:xfrm>
            <a:off x="5897880" y="322326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71032" y="329641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340.3</a:t>
            </a:r>
            <a:endParaRPr lang="en-US" sz="810" dirty="0"/>
          </a:p>
        </p:txBody>
      </p:sp>
      <p:sp>
        <p:nvSpPr>
          <p:cNvPr id="60" name="Shape 58"/>
          <p:cNvSpPr/>
          <p:nvPr/>
        </p:nvSpPr>
        <p:spPr>
          <a:xfrm>
            <a:off x="640080" y="3916680"/>
            <a:ext cx="114300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" y="3989832"/>
            <a:ext cx="99669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Severe</a:t>
            </a:r>
            <a:endParaRPr lang="en-US" sz="810" dirty="0"/>
          </a:p>
        </p:txBody>
      </p:sp>
      <p:sp>
        <p:nvSpPr>
          <p:cNvPr id="62" name="Shape 60"/>
          <p:cNvSpPr/>
          <p:nvPr/>
        </p:nvSpPr>
        <p:spPr>
          <a:xfrm>
            <a:off x="1783080" y="3916680"/>
            <a:ext cx="502920" cy="6934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56232" y="3989832"/>
            <a:ext cx="35661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30</a:t>
            </a:r>
            <a:endParaRPr lang="en-US" sz="810" dirty="0"/>
          </a:p>
        </p:txBody>
      </p:sp>
      <p:sp>
        <p:nvSpPr>
          <p:cNvPr id="64" name="Shape 62"/>
          <p:cNvSpPr/>
          <p:nvPr/>
        </p:nvSpPr>
        <p:spPr>
          <a:xfrm>
            <a:off x="2286000" y="3916680"/>
            <a:ext cx="594360" cy="6934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59152" y="3989832"/>
            <a:ext cx="44805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100%</a:t>
            </a:r>
            <a:endParaRPr lang="en-US" sz="810" dirty="0"/>
          </a:p>
        </p:txBody>
      </p:sp>
      <p:sp>
        <p:nvSpPr>
          <p:cNvPr id="66" name="Shape 64"/>
          <p:cNvSpPr/>
          <p:nvPr/>
        </p:nvSpPr>
        <p:spPr>
          <a:xfrm>
            <a:off x="2880360" y="391668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53512" y="398983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430.5</a:t>
            </a:r>
            <a:endParaRPr lang="en-US" sz="810" dirty="0"/>
          </a:p>
        </p:txBody>
      </p:sp>
      <p:sp>
        <p:nvSpPr>
          <p:cNvPr id="68" name="Shape 66"/>
          <p:cNvSpPr/>
          <p:nvPr/>
        </p:nvSpPr>
        <p:spPr>
          <a:xfrm>
            <a:off x="3886200" y="391668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59352" y="398983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338.9</a:t>
            </a:r>
            <a:endParaRPr lang="en-US" sz="810" dirty="0"/>
          </a:p>
        </p:txBody>
      </p:sp>
      <p:sp>
        <p:nvSpPr>
          <p:cNvPr id="70" name="Shape 68"/>
          <p:cNvSpPr/>
          <p:nvPr/>
        </p:nvSpPr>
        <p:spPr>
          <a:xfrm>
            <a:off x="4892040" y="391668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65192" y="398983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639.1</a:t>
            </a:r>
            <a:endParaRPr lang="en-US" sz="810" dirty="0"/>
          </a:p>
        </p:txBody>
      </p:sp>
      <p:sp>
        <p:nvSpPr>
          <p:cNvPr id="72" name="Shape 70"/>
          <p:cNvSpPr/>
          <p:nvPr/>
        </p:nvSpPr>
        <p:spPr>
          <a:xfrm>
            <a:off x="5897880" y="391668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71032" y="398983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647.1</a:t>
            </a:r>
            <a:endParaRPr lang="en-US" sz="810" dirty="0"/>
          </a:p>
        </p:txBody>
      </p:sp>
      <p:sp>
        <p:nvSpPr>
          <p:cNvPr id="74" name="Shape 72"/>
          <p:cNvSpPr/>
          <p:nvPr/>
        </p:nvSpPr>
        <p:spPr>
          <a:xfrm>
            <a:off x="640080" y="4610100"/>
            <a:ext cx="114300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3232" y="4683252"/>
            <a:ext cx="99669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Extreme</a:t>
            </a:r>
            <a:endParaRPr lang="en-US" sz="810" dirty="0"/>
          </a:p>
        </p:txBody>
      </p:sp>
      <p:sp>
        <p:nvSpPr>
          <p:cNvPr id="76" name="Shape 74"/>
          <p:cNvSpPr/>
          <p:nvPr/>
        </p:nvSpPr>
        <p:spPr>
          <a:xfrm>
            <a:off x="1783080" y="4610100"/>
            <a:ext cx="502920" cy="693420"/>
          </a:xfrm>
          <a:prstGeom prst="roundRect">
            <a:avLst>
              <a:gd name="adj" fmla="val 1454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56232" y="4683252"/>
            <a:ext cx="35661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30</a:t>
            </a:r>
            <a:endParaRPr lang="en-US" sz="810" dirty="0"/>
          </a:p>
        </p:txBody>
      </p:sp>
      <p:sp>
        <p:nvSpPr>
          <p:cNvPr id="78" name="Shape 76"/>
          <p:cNvSpPr/>
          <p:nvPr/>
        </p:nvSpPr>
        <p:spPr>
          <a:xfrm>
            <a:off x="2286000" y="4610100"/>
            <a:ext cx="594360" cy="69342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59152" y="4683252"/>
            <a:ext cx="44805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100%</a:t>
            </a:r>
            <a:endParaRPr lang="en-US" sz="810" dirty="0"/>
          </a:p>
        </p:txBody>
      </p:sp>
      <p:sp>
        <p:nvSpPr>
          <p:cNvPr id="80" name="Shape 78"/>
          <p:cNvSpPr/>
          <p:nvPr/>
        </p:nvSpPr>
        <p:spPr>
          <a:xfrm>
            <a:off x="2880360" y="46101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53512" y="46832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1028.4</a:t>
            </a:r>
            <a:endParaRPr lang="en-US" sz="810" dirty="0"/>
          </a:p>
        </p:txBody>
      </p:sp>
      <p:sp>
        <p:nvSpPr>
          <p:cNvPr id="82" name="Shape 80"/>
          <p:cNvSpPr/>
          <p:nvPr/>
        </p:nvSpPr>
        <p:spPr>
          <a:xfrm>
            <a:off x="3886200" y="46101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959352" y="46832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777.5</a:t>
            </a:r>
            <a:endParaRPr lang="en-US" sz="810" dirty="0"/>
          </a:p>
        </p:txBody>
      </p:sp>
      <p:sp>
        <p:nvSpPr>
          <p:cNvPr id="84" name="Shape 82"/>
          <p:cNvSpPr/>
          <p:nvPr/>
        </p:nvSpPr>
        <p:spPr>
          <a:xfrm>
            <a:off x="4892040" y="46101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65192" y="46832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1541.3</a:t>
            </a:r>
            <a:endParaRPr lang="en-US" sz="810" dirty="0"/>
          </a:p>
        </p:txBody>
      </p:sp>
      <p:sp>
        <p:nvSpPr>
          <p:cNvPr id="86" name="Shape 84"/>
          <p:cNvSpPr/>
          <p:nvPr/>
        </p:nvSpPr>
        <p:spPr>
          <a:xfrm>
            <a:off x="5897880" y="46101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71032" y="46832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1552.7</a:t>
            </a:r>
            <a:endParaRPr lang="en-US" sz="810" dirty="0"/>
          </a:p>
        </p:txBody>
      </p:sp>
      <p:sp>
        <p:nvSpPr>
          <p:cNvPr id="88" name="Shape 86"/>
          <p:cNvSpPr/>
          <p:nvPr/>
        </p:nvSpPr>
        <p:spPr>
          <a:xfrm>
            <a:off x="8321040" y="1298448"/>
            <a:ext cx="109728" cy="1097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476488" y="1261872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4 sites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9144000" y="1298448"/>
            <a:ext cx="109728" cy="109728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299448" y="1261872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5 sites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7452360" y="1645920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Baseline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8458200" y="1600200"/>
            <a:ext cx="52006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458200" y="1810512"/>
            <a:ext cx="63448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52360" y="2368296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Mild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8458200" y="2322576"/>
            <a:ext cx="195247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458200" y="2532888"/>
            <a:ext cx="180240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452360" y="3090672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Moderate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458200" y="3044952"/>
            <a:ext cx="346958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458200" y="3255264"/>
            <a:ext cx="326749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452360" y="3813048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Severe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8458200" y="3767328"/>
            <a:ext cx="639680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458200" y="3977640"/>
            <a:ext cx="606544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452360" y="4535424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Extreme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8458200" y="4489704"/>
            <a:ext cx="1528100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458200" y="4700016"/>
            <a:ext cx="1438351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22960" y="5577840"/>
            <a:ext cx="107899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Observation: mean latency rose from 35.0 ms at baseline to 1028.4 ms at extreme; all 150 4-site runs returned HTTP 403.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5-site results: scale-out preserved policy behaviour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43000"/>
            <a:ext cx="1143000" cy="693420"/>
          </a:xfrm>
          <a:prstGeom prst="roundRect">
            <a:avLst>
              <a:gd name="adj" fmla="val 1054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216152"/>
            <a:ext cx="99669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Condition</a:t>
            </a:r>
            <a:endParaRPr lang="en-US" sz="810" dirty="0"/>
          </a:p>
        </p:txBody>
      </p:sp>
      <p:sp>
        <p:nvSpPr>
          <p:cNvPr id="6" name="Shape 4"/>
          <p:cNvSpPr/>
          <p:nvPr/>
        </p:nvSpPr>
        <p:spPr>
          <a:xfrm>
            <a:off x="1783080" y="1143000"/>
            <a:ext cx="502920" cy="6934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56232" y="1216152"/>
            <a:ext cx="35661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n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2286000" y="1143000"/>
            <a:ext cx="594360" cy="69342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1216152"/>
            <a:ext cx="44805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403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2880360" y="11430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2161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Mean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3886200" y="11430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9352" y="12161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Median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4892040" y="11430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2161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P95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5897880" y="11430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1032" y="12161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P99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640080" y="1836420"/>
            <a:ext cx="114300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1909572"/>
            <a:ext cx="99669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Baseline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1783080" y="1836420"/>
            <a:ext cx="502920" cy="693420"/>
          </a:xfrm>
          <a:prstGeom prst="roundRect">
            <a:avLst>
              <a:gd name="adj" fmla="val 1454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56232" y="1909572"/>
            <a:ext cx="35661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40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2286000" y="1836420"/>
            <a:ext cx="594360" cy="69342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1909572"/>
            <a:ext cx="44805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100%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2880360" y="183642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53512" y="190957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42.7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3886200" y="183642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9352" y="190957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23.7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4892040" y="183642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190957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74.4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5897880" y="183642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71032" y="190957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405.2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640080" y="2529840"/>
            <a:ext cx="114300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2602992"/>
            <a:ext cx="99669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Mild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1783080" y="2529840"/>
            <a:ext cx="502920" cy="6934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56232" y="2602992"/>
            <a:ext cx="35661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40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2286000" y="2529840"/>
            <a:ext cx="594360" cy="6934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9152" y="2602992"/>
            <a:ext cx="44805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100%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2880360" y="252984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53512" y="260299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121.3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3886200" y="252984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59352" y="260299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102.6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4892040" y="252984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5192" y="260299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178.8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5897880" y="252984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71032" y="260299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184.0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640080" y="3223260"/>
            <a:ext cx="114300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3296412"/>
            <a:ext cx="99669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Moderate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1783080" y="3223260"/>
            <a:ext cx="502920" cy="693420"/>
          </a:xfrm>
          <a:prstGeom prst="roundRect">
            <a:avLst>
              <a:gd name="adj" fmla="val 1454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56232" y="3296412"/>
            <a:ext cx="35661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40</a:t>
            </a:r>
            <a:endParaRPr lang="en-US" sz="810" dirty="0"/>
          </a:p>
        </p:txBody>
      </p:sp>
      <p:sp>
        <p:nvSpPr>
          <p:cNvPr id="50" name="Shape 48"/>
          <p:cNvSpPr/>
          <p:nvPr/>
        </p:nvSpPr>
        <p:spPr>
          <a:xfrm>
            <a:off x="2286000" y="3223260"/>
            <a:ext cx="594360" cy="69342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59152" y="3296412"/>
            <a:ext cx="44805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100%</a:t>
            </a:r>
            <a:endParaRPr lang="en-US" sz="810" dirty="0"/>
          </a:p>
        </p:txBody>
      </p:sp>
      <p:sp>
        <p:nvSpPr>
          <p:cNvPr id="52" name="Shape 50"/>
          <p:cNvSpPr/>
          <p:nvPr/>
        </p:nvSpPr>
        <p:spPr>
          <a:xfrm>
            <a:off x="2880360" y="322326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53512" y="329641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219.9</a:t>
            </a:r>
            <a:endParaRPr lang="en-US" sz="810" dirty="0"/>
          </a:p>
        </p:txBody>
      </p:sp>
      <p:sp>
        <p:nvSpPr>
          <p:cNvPr id="54" name="Shape 52"/>
          <p:cNvSpPr/>
          <p:nvPr/>
        </p:nvSpPr>
        <p:spPr>
          <a:xfrm>
            <a:off x="3886200" y="322326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59352" y="329641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185.7</a:t>
            </a:r>
            <a:endParaRPr lang="en-US" sz="810" dirty="0"/>
          </a:p>
        </p:txBody>
      </p:sp>
      <p:sp>
        <p:nvSpPr>
          <p:cNvPr id="56" name="Shape 54"/>
          <p:cNvSpPr/>
          <p:nvPr/>
        </p:nvSpPr>
        <p:spPr>
          <a:xfrm>
            <a:off x="4892040" y="322326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65192" y="329641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338.5</a:t>
            </a:r>
            <a:endParaRPr lang="en-US" sz="810" dirty="0"/>
          </a:p>
        </p:txBody>
      </p:sp>
      <p:sp>
        <p:nvSpPr>
          <p:cNvPr id="58" name="Shape 56"/>
          <p:cNvSpPr/>
          <p:nvPr/>
        </p:nvSpPr>
        <p:spPr>
          <a:xfrm>
            <a:off x="5897880" y="322326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71032" y="329641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351.9</a:t>
            </a:r>
            <a:endParaRPr lang="en-US" sz="810" dirty="0"/>
          </a:p>
        </p:txBody>
      </p:sp>
      <p:sp>
        <p:nvSpPr>
          <p:cNvPr id="60" name="Shape 58"/>
          <p:cNvSpPr/>
          <p:nvPr/>
        </p:nvSpPr>
        <p:spPr>
          <a:xfrm>
            <a:off x="640080" y="3916680"/>
            <a:ext cx="114300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" y="3989832"/>
            <a:ext cx="99669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Severe</a:t>
            </a:r>
            <a:endParaRPr lang="en-US" sz="810" dirty="0"/>
          </a:p>
        </p:txBody>
      </p:sp>
      <p:sp>
        <p:nvSpPr>
          <p:cNvPr id="62" name="Shape 60"/>
          <p:cNvSpPr/>
          <p:nvPr/>
        </p:nvSpPr>
        <p:spPr>
          <a:xfrm>
            <a:off x="1783080" y="3916680"/>
            <a:ext cx="502920" cy="6934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56232" y="3989832"/>
            <a:ext cx="35661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40</a:t>
            </a:r>
            <a:endParaRPr lang="en-US" sz="810" dirty="0"/>
          </a:p>
        </p:txBody>
      </p:sp>
      <p:sp>
        <p:nvSpPr>
          <p:cNvPr id="64" name="Shape 62"/>
          <p:cNvSpPr/>
          <p:nvPr/>
        </p:nvSpPr>
        <p:spPr>
          <a:xfrm>
            <a:off x="2286000" y="3916680"/>
            <a:ext cx="594360" cy="6934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59152" y="3989832"/>
            <a:ext cx="44805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100%</a:t>
            </a:r>
            <a:endParaRPr lang="en-US" sz="810" dirty="0"/>
          </a:p>
        </p:txBody>
      </p:sp>
      <p:sp>
        <p:nvSpPr>
          <p:cNvPr id="66" name="Shape 64"/>
          <p:cNvSpPr/>
          <p:nvPr/>
        </p:nvSpPr>
        <p:spPr>
          <a:xfrm>
            <a:off x="2880360" y="391668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53512" y="398983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408.2</a:t>
            </a:r>
            <a:endParaRPr lang="en-US" sz="810" dirty="0"/>
          </a:p>
        </p:txBody>
      </p:sp>
      <p:sp>
        <p:nvSpPr>
          <p:cNvPr id="68" name="Shape 66"/>
          <p:cNvSpPr/>
          <p:nvPr/>
        </p:nvSpPr>
        <p:spPr>
          <a:xfrm>
            <a:off x="3886200" y="391668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59352" y="398983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340.2</a:t>
            </a:r>
            <a:endParaRPr lang="en-US" sz="810" dirty="0"/>
          </a:p>
        </p:txBody>
      </p:sp>
      <p:sp>
        <p:nvSpPr>
          <p:cNvPr id="70" name="Shape 68"/>
          <p:cNvSpPr/>
          <p:nvPr/>
        </p:nvSpPr>
        <p:spPr>
          <a:xfrm>
            <a:off x="4892040" y="391668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65192" y="398983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635.4</a:t>
            </a:r>
            <a:endParaRPr lang="en-US" sz="810" dirty="0"/>
          </a:p>
        </p:txBody>
      </p:sp>
      <p:sp>
        <p:nvSpPr>
          <p:cNvPr id="72" name="Shape 70"/>
          <p:cNvSpPr/>
          <p:nvPr/>
        </p:nvSpPr>
        <p:spPr>
          <a:xfrm>
            <a:off x="5897880" y="391668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71032" y="398983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641.5</a:t>
            </a:r>
            <a:endParaRPr lang="en-US" sz="810" dirty="0"/>
          </a:p>
        </p:txBody>
      </p:sp>
      <p:sp>
        <p:nvSpPr>
          <p:cNvPr id="74" name="Shape 72"/>
          <p:cNvSpPr/>
          <p:nvPr/>
        </p:nvSpPr>
        <p:spPr>
          <a:xfrm>
            <a:off x="640080" y="4610100"/>
            <a:ext cx="114300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3232" y="4683252"/>
            <a:ext cx="99669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Extreme</a:t>
            </a:r>
            <a:endParaRPr lang="en-US" sz="810" dirty="0"/>
          </a:p>
        </p:txBody>
      </p:sp>
      <p:sp>
        <p:nvSpPr>
          <p:cNvPr id="76" name="Shape 74"/>
          <p:cNvSpPr/>
          <p:nvPr/>
        </p:nvSpPr>
        <p:spPr>
          <a:xfrm>
            <a:off x="1783080" y="4610100"/>
            <a:ext cx="502920" cy="693420"/>
          </a:xfrm>
          <a:prstGeom prst="roundRect">
            <a:avLst>
              <a:gd name="adj" fmla="val 1454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56232" y="4683252"/>
            <a:ext cx="35661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40</a:t>
            </a:r>
            <a:endParaRPr lang="en-US" sz="810" dirty="0"/>
          </a:p>
        </p:txBody>
      </p:sp>
      <p:sp>
        <p:nvSpPr>
          <p:cNvPr id="78" name="Shape 76"/>
          <p:cNvSpPr/>
          <p:nvPr/>
        </p:nvSpPr>
        <p:spPr>
          <a:xfrm>
            <a:off x="2286000" y="4610100"/>
            <a:ext cx="594360" cy="69342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59152" y="4683252"/>
            <a:ext cx="44805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100%</a:t>
            </a:r>
            <a:endParaRPr lang="en-US" sz="810" dirty="0"/>
          </a:p>
        </p:txBody>
      </p:sp>
      <p:sp>
        <p:nvSpPr>
          <p:cNvPr id="80" name="Shape 78"/>
          <p:cNvSpPr/>
          <p:nvPr/>
        </p:nvSpPr>
        <p:spPr>
          <a:xfrm>
            <a:off x="2880360" y="46101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53512" y="46832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968.0</a:t>
            </a:r>
            <a:endParaRPr lang="en-US" sz="810" dirty="0"/>
          </a:p>
        </p:txBody>
      </p:sp>
      <p:sp>
        <p:nvSpPr>
          <p:cNvPr id="82" name="Shape 80"/>
          <p:cNvSpPr/>
          <p:nvPr/>
        </p:nvSpPr>
        <p:spPr>
          <a:xfrm>
            <a:off x="3886200" y="46101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959352" y="46832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773.1</a:t>
            </a:r>
            <a:endParaRPr lang="en-US" sz="810" dirty="0"/>
          </a:p>
        </p:txBody>
      </p:sp>
      <p:sp>
        <p:nvSpPr>
          <p:cNvPr id="84" name="Shape 82"/>
          <p:cNvSpPr/>
          <p:nvPr/>
        </p:nvSpPr>
        <p:spPr>
          <a:xfrm>
            <a:off x="4892040" y="46101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65192" y="46832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1535.3</a:t>
            </a:r>
            <a:endParaRPr lang="en-US" sz="810" dirty="0"/>
          </a:p>
        </p:txBody>
      </p:sp>
      <p:sp>
        <p:nvSpPr>
          <p:cNvPr id="86" name="Shape 84"/>
          <p:cNvSpPr/>
          <p:nvPr/>
        </p:nvSpPr>
        <p:spPr>
          <a:xfrm>
            <a:off x="5897880" y="4610100"/>
            <a:ext cx="1005840" cy="693420"/>
          </a:xfrm>
          <a:prstGeom prst="roundRect">
            <a:avLst>
              <a:gd name="adj" fmla="val 10549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71032" y="4683252"/>
            <a:ext cx="859536" cy="5471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1546.5</a:t>
            </a:r>
            <a:endParaRPr lang="en-US" sz="810" dirty="0"/>
          </a:p>
        </p:txBody>
      </p:sp>
      <p:sp>
        <p:nvSpPr>
          <p:cNvPr id="88" name="Shape 86"/>
          <p:cNvSpPr/>
          <p:nvPr/>
        </p:nvSpPr>
        <p:spPr>
          <a:xfrm>
            <a:off x="8321040" y="1298448"/>
            <a:ext cx="109728" cy="1097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476488" y="1261872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4 sites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9144000" y="1298448"/>
            <a:ext cx="109728" cy="109728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299448" y="1261872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5 sites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7452360" y="1645920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Baseline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8458200" y="1600200"/>
            <a:ext cx="52006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458200" y="1810512"/>
            <a:ext cx="63448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52360" y="2368296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Mild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8458200" y="2322576"/>
            <a:ext cx="195247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458200" y="2532888"/>
            <a:ext cx="180240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452360" y="3090672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Moderate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458200" y="3044952"/>
            <a:ext cx="346958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458200" y="3255264"/>
            <a:ext cx="326749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452360" y="3813048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Severe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8458200" y="3767328"/>
            <a:ext cx="639680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458200" y="3977640"/>
            <a:ext cx="606544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452360" y="4535424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Extreme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8458200" y="4489704"/>
            <a:ext cx="1528100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458200" y="4700016"/>
            <a:ext cx="1438351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22960" y="5577840"/>
            <a:ext cx="107899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Observation: 5-site mean latency remained monotonic with impairment: 42.7 → 121.3 → 219.9 → 408.2 → 968.0 ms.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4-site versus 5-site scale comparison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1298448"/>
            <a:ext cx="109728" cy="1097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47088" y="1261872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4 sites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514600" y="1298448"/>
            <a:ext cx="109728" cy="109728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0048" y="1261872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5 sites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Baseline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0" y="1600200"/>
            <a:ext cx="76009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810512"/>
            <a:ext cx="92732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32304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Mild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0" y="2386584"/>
            <a:ext cx="285361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2596896"/>
            <a:ext cx="263427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18688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Moderate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0" y="3172968"/>
            <a:ext cx="507092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3383280"/>
            <a:ext cx="477557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05072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Severe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0" y="3959352"/>
            <a:ext cx="934917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4169664"/>
            <a:ext cx="886488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91456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Extreme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0" y="4745736"/>
            <a:ext cx="2233376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4956048"/>
            <a:ext cx="2102206" cy="16459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32588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1399032"/>
            <a:ext cx="11795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Condition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26680" y="13258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99832" y="1399032"/>
            <a:ext cx="9509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 sites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23960" y="13258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97112" y="1399032"/>
            <a:ext cx="9509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 sites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921240" y="132588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94392" y="1399032"/>
            <a:ext cx="8595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Δ 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173736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1810512"/>
            <a:ext cx="11795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Baseline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26680" y="173736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9832" y="1810512"/>
            <a:ext cx="9509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35.0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823960" y="173736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97112" y="1810512"/>
            <a:ext cx="9509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42.7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921240" y="17373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94392" y="1810512"/>
            <a:ext cx="8595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+7.7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21488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2221992"/>
            <a:ext cx="11795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Mild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26680" y="214884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99832" y="2221992"/>
            <a:ext cx="9509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131.4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823960" y="214884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97112" y="2221992"/>
            <a:ext cx="9509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121.3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921240" y="214884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94392" y="2221992"/>
            <a:ext cx="8595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-10.1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0" y="256032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2633472"/>
            <a:ext cx="11795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Moderate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726680" y="25603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99832" y="2633472"/>
            <a:ext cx="9509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233.5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823960" y="25603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97112" y="2633472"/>
            <a:ext cx="9509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219.9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921240" y="256032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94392" y="2633472"/>
            <a:ext cx="8595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-13.6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0" y="297180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73952" y="3044952"/>
            <a:ext cx="11795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Severe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726680" y="29718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99832" y="3044952"/>
            <a:ext cx="9509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430.5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823960" y="29718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97112" y="3044952"/>
            <a:ext cx="9509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408.2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921240" y="29718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994392" y="3044952"/>
            <a:ext cx="8595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-22.3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00800" y="338328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73952" y="3456432"/>
            <a:ext cx="11795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Extreme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726680" y="33832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99832" y="3456432"/>
            <a:ext cx="9509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1028.4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823960" y="33832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97112" y="3456432"/>
            <a:ext cx="9509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968.0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921240" y="338328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994392" y="3456432"/>
            <a:ext cx="8595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-60.4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537960" y="4251960"/>
            <a:ext cx="45720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00" dirty="0">
                <a:solidFill>
                  <a:srgbClr val="000000"/>
                </a:solidFill>
              </a:rPr>
              <a:t>All 4-site and 5-site runs retained 100% expected policy-denial success.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</a:rPr>
              <a:t>The measured trend is much more consistent than the earlier full-workflow DDIL run.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</a:rPr>
              <a:t>Extreme latency remains dominated by the Site B routed path, while C/D/E show lower endpoint latency.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Endpoint detail: 4-site federation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78992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Site</a:t>
            </a:r>
            <a:endParaRPr lang="en-US" sz="690" dirty="0"/>
          </a:p>
        </p:txBody>
      </p:sp>
      <p:sp>
        <p:nvSpPr>
          <p:cNvPr id="6" name="Shape 4"/>
          <p:cNvSpPr/>
          <p:nvPr/>
        </p:nvSpPr>
        <p:spPr>
          <a:xfrm>
            <a:off x="1554480" y="1005840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7632" y="1078992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Condition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2697480" y="1005840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078992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Mean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3611880" y="1005840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078992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P95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4526280" y="1005840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078992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P99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502920" y="1328738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1401890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B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1554480" y="1328738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27632" y="1401890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Baseline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2697480" y="1328738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0632" y="1401890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51.3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3611880" y="1328738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1401890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77.4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4526280" y="1328738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1401890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78.6</a:t>
            </a:r>
            <a:endParaRPr lang="en-US" sz="690" dirty="0"/>
          </a:p>
        </p:txBody>
      </p:sp>
      <p:sp>
        <p:nvSpPr>
          <p:cNvPr id="24" name="Shape 22"/>
          <p:cNvSpPr/>
          <p:nvPr/>
        </p:nvSpPr>
        <p:spPr>
          <a:xfrm>
            <a:off x="502920" y="1651635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1724787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B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1554480" y="1651635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1724787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Mild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2697480" y="1651635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0632" y="1724787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193.8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3611880" y="1651635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1724787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221.1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4526280" y="1651635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1724787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231.2</a:t>
            </a:r>
            <a:endParaRPr lang="en-US" sz="690" dirty="0"/>
          </a:p>
        </p:txBody>
      </p:sp>
      <p:sp>
        <p:nvSpPr>
          <p:cNvPr id="34" name="Shape 32"/>
          <p:cNvSpPr/>
          <p:nvPr/>
        </p:nvSpPr>
        <p:spPr>
          <a:xfrm>
            <a:off x="502920" y="1974532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2047685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B</a:t>
            </a:r>
            <a:endParaRPr lang="en-US" sz="690" dirty="0"/>
          </a:p>
        </p:txBody>
      </p:sp>
      <p:sp>
        <p:nvSpPr>
          <p:cNvPr id="36" name="Shape 34"/>
          <p:cNvSpPr/>
          <p:nvPr/>
        </p:nvSpPr>
        <p:spPr>
          <a:xfrm>
            <a:off x="1554480" y="1974532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27632" y="2047685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Moderate</a:t>
            </a:r>
            <a:endParaRPr lang="en-US" sz="690" dirty="0"/>
          </a:p>
        </p:txBody>
      </p:sp>
      <p:sp>
        <p:nvSpPr>
          <p:cNvPr id="38" name="Shape 36"/>
          <p:cNvSpPr/>
          <p:nvPr/>
        </p:nvSpPr>
        <p:spPr>
          <a:xfrm>
            <a:off x="2697480" y="1974532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70632" y="2047685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330.7</a:t>
            </a:r>
            <a:endParaRPr lang="en-US" sz="690" dirty="0"/>
          </a:p>
        </p:txBody>
      </p:sp>
      <p:sp>
        <p:nvSpPr>
          <p:cNvPr id="40" name="Shape 38"/>
          <p:cNvSpPr/>
          <p:nvPr/>
        </p:nvSpPr>
        <p:spPr>
          <a:xfrm>
            <a:off x="3611880" y="1974532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85032" y="2047685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339.5</a:t>
            </a:r>
            <a:endParaRPr lang="en-US" sz="690" dirty="0"/>
          </a:p>
        </p:txBody>
      </p:sp>
      <p:sp>
        <p:nvSpPr>
          <p:cNvPr id="42" name="Shape 40"/>
          <p:cNvSpPr/>
          <p:nvPr/>
        </p:nvSpPr>
        <p:spPr>
          <a:xfrm>
            <a:off x="4526280" y="1974532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99432" y="2047685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341.2</a:t>
            </a:r>
            <a:endParaRPr lang="en-US" sz="690" dirty="0"/>
          </a:p>
        </p:txBody>
      </p:sp>
      <p:sp>
        <p:nvSpPr>
          <p:cNvPr id="44" name="Shape 42"/>
          <p:cNvSpPr/>
          <p:nvPr/>
        </p:nvSpPr>
        <p:spPr>
          <a:xfrm>
            <a:off x="502920" y="2297430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2370582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B</a:t>
            </a:r>
            <a:endParaRPr lang="en-US" sz="690" dirty="0"/>
          </a:p>
        </p:txBody>
      </p:sp>
      <p:sp>
        <p:nvSpPr>
          <p:cNvPr id="46" name="Shape 44"/>
          <p:cNvSpPr/>
          <p:nvPr/>
        </p:nvSpPr>
        <p:spPr>
          <a:xfrm>
            <a:off x="1554480" y="2297430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27632" y="2370582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Severe</a:t>
            </a:r>
            <a:endParaRPr lang="en-US" sz="690" dirty="0"/>
          </a:p>
        </p:txBody>
      </p:sp>
      <p:sp>
        <p:nvSpPr>
          <p:cNvPr id="48" name="Shape 46"/>
          <p:cNvSpPr/>
          <p:nvPr/>
        </p:nvSpPr>
        <p:spPr>
          <a:xfrm>
            <a:off x="2697480" y="2297430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70632" y="2370582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631.5</a:t>
            </a:r>
            <a:endParaRPr lang="en-US" sz="690" dirty="0"/>
          </a:p>
        </p:txBody>
      </p:sp>
      <p:sp>
        <p:nvSpPr>
          <p:cNvPr id="50" name="Shape 48"/>
          <p:cNvSpPr/>
          <p:nvPr/>
        </p:nvSpPr>
        <p:spPr>
          <a:xfrm>
            <a:off x="3611880" y="2297430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85032" y="2370582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645.6</a:t>
            </a:r>
            <a:endParaRPr lang="en-US" sz="690" dirty="0"/>
          </a:p>
        </p:txBody>
      </p:sp>
      <p:sp>
        <p:nvSpPr>
          <p:cNvPr id="52" name="Shape 50"/>
          <p:cNvSpPr/>
          <p:nvPr/>
        </p:nvSpPr>
        <p:spPr>
          <a:xfrm>
            <a:off x="4526280" y="2297430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99432" y="2370582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649.0</a:t>
            </a:r>
            <a:endParaRPr lang="en-US" sz="690" dirty="0"/>
          </a:p>
        </p:txBody>
      </p:sp>
      <p:sp>
        <p:nvSpPr>
          <p:cNvPr id="54" name="Shape 52"/>
          <p:cNvSpPr/>
          <p:nvPr/>
        </p:nvSpPr>
        <p:spPr>
          <a:xfrm>
            <a:off x="502920" y="2620327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" y="2693479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B</a:t>
            </a:r>
            <a:endParaRPr lang="en-US" sz="690" dirty="0"/>
          </a:p>
        </p:txBody>
      </p:sp>
      <p:sp>
        <p:nvSpPr>
          <p:cNvPr id="56" name="Shape 54"/>
          <p:cNvSpPr/>
          <p:nvPr/>
        </p:nvSpPr>
        <p:spPr>
          <a:xfrm>
            <a:off x="1554480" y="2620327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27632" y="2693479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Extreme</a:t>
            </a:r>
            <a:endParaRPr lang="en-US" sz="690" dirty="0"/>
          </a:p>
        </p:txBody>
      </p:sp>
      <p:sp>
        <p:nvSpPr>
          <p:cNvPr id="58" name="Shape 56"/>
          <p:cNvSpPr/>
          <p:nvPr/>
        </p:nvSpPr>
        <p:spPr>
          <a:xfrm>
            <a:off x="2697480" y="2620327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70632" y="2693479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1534.4</a:t>
            </a:r>
            <a:endParaRPr lang="en-US" sz="690" dirty="0"/>
          </a:p>
        </p:txBody>
      </p:sp>
      <p:sp>
        <p:nvSpPr>
          <p:cNvPr id="60" name="Shape 58"/>
          <p:cNvSpPr/>
          <p:nvPr/>
        </p:nvSpPr>
        <p:spPr>
          <a:xfrm>
            <a:off x="3611880" y="2620327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85032" y="2693479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1551.2</a:t>
            </a:r>
            <a:endParaRPr lang="en-US" sz="690" dirty="0"/>
          </a:p>
        </p:txBody>
      </p:sp>
      <p:sp>
        <p:nvSpPr>
          <p:cNvPr id="62" name="Shape 60"/>
          <p:cNvSpPr/>
          <p:nvPr/>
        </p:nvSpPr>
        <p:spPr>
          <a:xfrm>
            <a:off x="4526280" y="2620327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99432" y="2693479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1554.5</a:t>
            </a:r>
            <a:endParaRPr lang="en-US" sz="690" dirty="0"/>
          </a:p>
        </p:txBody>
      </p:sp>
      <p:sp>
        <p:nvSpPr>
          <p:cNvPr id="64" name="Shape 62"/>
          <p:cNvSpPr/>
          <p:nvPr/>
        </p:nvSpPr>
        <p:spPr>
          <a:xfrm>
            <a:off x="502920" y="2943225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072" y="3016377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C</a:t>
            </a:r>
            <a:endParaRPr lang="en-US" sz="690" dirty="0"/>
          </a:p>
        </p:txBody>
      </p:sp>
      <p:sp>
        <p:nvSpPr>
          <p:cNvPr id="66" name="Shape 64"/>
          <p:cNvSpPr/>
          <p:nvPr/>
        </p:nvSpPr>
        <p:spPr>
          <a:xfrm>
            <a:off x="1554480" y="2943225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27632" y="3016377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Baseline</a:t>
            </a:r>
            <a:endParaRPr lang="en-US" sz="690" dirty="0"/>
          </a:p>
        </p:txBody>
      </p:sp>
      <p:sp>
        <p:nvSpPr>
          <p:cNvPr id="68" name="Shape 66"/>
          <p:cNvSpPr/>
          <p:nvPr/>
        </p:nvSpPr>
        <p:spPr>
          <a:xfrm>
            <a:off x="2697480" y="2943225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70632" y="3016377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29.2</a:t>
            </a:r>
            <a:endParaRPr lang="en-US" sz="690" dirty="0"/>
          </a:p>
        </p:txBody>
      </p:sp>
      <p:sp>
        <p:nvSpPr>
          <p:cNvPr id="70" name="Shape 68"/>
          <p:cNvSpPr/>
          <p:nvPr/>
        </p:nvSpPr>
        <p:spPr>
          <a:xfrm>
            <a:off x="3611880" y="2943225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85032" y="3016377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67.9</a:t>
            </a:r>
            <a:endParaRPr lang="en-US" sz="690" dirty="0"/>
          </a:p>
        </p:txBody>
      </p:sp>
      <p:sp>
        <p:nvSpPr>
          <p:cNvPr id="72" name="Shape 70"/>
          <p:cNvSpPr/>
          <p:nvPr/>
        </p:nvSpPr>
        <p:spPr>
          <a:xfrm>
            <a:off x="4526280" y="2943225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99432" y="3016377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95.3</a:t>
            </a:r>
            <a:endParaRPr lang="en-US" sz="690" dirty="0"/>
          </a:p>
        </p:txBody>
      </p:sp>
      <p:sp>
        <p:nvSpPr>
          <p:cNvPr id="74" name="Shape 72"/>
          <p:cNvSpPr/>
          <p:nvPr/>
        </p:nvSpPr>
        <p:spPr>
          <a:xfrm>
            <a:off x="502920" y="3266122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6072" y="3339274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C</a:t>
            </a:r>
            <a:endParaRPr lang="en-US" sz="690" dirty="0"/>
          </a:p>
        </p:txBody>
      </p:sp>
      <p:sp>
        <p:nvSpPr>
          <p:cNvPr id="76" name="Shape 74"/>
          <p:cNvSpPr/>
          <p:nvPr/>
        </p:nvSpPr>
        <p:spPr>
          <a:xfrm>
            <a:off x="1554480" y="3266122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27632" y="3339274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Mild</a:t>
            </a:r>
            <a:endParaRPr lang="en-US" sz="690" dirty="0"/>
          </a:p>
        </p:txBody>
      </p:sp>
      <p:sp>
        <p:nvSpPr>
          <p:cNvPr id="78" name="Shape 76"/>
          <p:cNvSpPr/>
          <p:nvPr/>
        </p:nvSpPr>
        <p:spPr>
          <a:xfrm>
            <a:off x="2697480" y="3266122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70632" y="3339274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102.9</a:t>
            </a:r>
            <a:endParaRPr lang="en-US" sz="690" dirty="0"/>
          </a:p>
        </p:txBody>
      </p:sp>
      <p:sp>
        <p:nvSpPr>
          <p:cNvPr id="80" name="Shape 78"/>
          <p:cNvSpPr/>
          <p:nvPr/>
        </p:nvSpPr>
        <p:spPr>
          <a:xfrm>
            <a:off x="3611880" y="3266122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85032" y="3339274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112.7</a:t>
            </a:r>
            <a:endParaRPr lang="en-US" sz="690" dirty="0"/>
          </a:p>
        </p:txBody>
      </p:sp>
      <p:sp>
        <p:nvSpPr>
          <p:cNvPr id="82" name="Shape 80"/>
          <p:cNvSpPr/>
          <p:nvPr/>
        </p:nvSpPr>
        <p:spPr>
          <a:xfrm>
            <a:off x="4526280" y="3266122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99432" y="3339274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113.6</a:t>
            </a:r>
            <a:endParaRPr lang="en-US" sz="690" dirty="0"/>
          </a:p>
        </p:txBody>
      </p:sp>
      <p:sp>
        <p:nvSpPr>
          <p:cNvPr id="84" name="Shape 82"/>
          <p:cNvSpPr/>
          <p:nvPr/>
        </p:nvSpPr>
        <p:spPr>
          <a:xfrm>
            <a:off x="502920" y="3589020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6072" y="3662172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C</a:t>
            </a:r>
            <a:endParaRPr lang="en-US" sz="690" dirty="0"/>
          </a:p>
        </p:txBody>
      </p:sp>
      <p:sp>
        <p:nvSpPr>
          <p:cNvPr id="86" name="Shape 84"/>
          <p:cNvSpPr/>
          <p:nvPr/>
        </p:nvSpPr>
        <p:spPr>
          <a:xfrm>
            <a:off x="1554480" y="3589020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627632" y="3662172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Moderate</a:t>
            </a:r>
            <a:endParaRPr lang="en-US" sz="690" dirty="0"/>
          </a:p>
        </p:txBody>
      </p:sp>
      <p:sp>
        <p:nvSpPr>
          <p:cNvPr id="88" name="Shape 86"/>
          <p:cNvSpPr/>
          <p:nvPr/>
        </p:nvSpPr>
        <p:spPr>
          <a:xfrm>
            <a:off x="2697480" y="3589020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70632" y="3662172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190.5</a:t>
            </a:r>
            <a:endParaRPr lang="en-US" sz="690" dirty="0"/>
          </a:p>
        </p:txBody>
      </p:sp>
      <p:sp>
        <p:nvSpPr>
          <p:cNvPr id="90" name="Shape 88"/>
          <p:cNvSpPr/>
          <p:nvPr/>
        </p:nvSpPr>
        <p:spPr>
          <a:xfrm>
            <a:off x="3611880" y="3589020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685032" y="3662172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238.3</a:t>
            </a:r>
            <a:endParaRPr lang="en-US" sz="690" dirty="0"/>
          </a:p>
        </p:txBody>
      </p:sp>
      <p:sp>
        <p:nvSpPr>
          <p:cNvPr id="92" name="Shape 90"/>
          <p:cNvSpPr/>
          <p:nvPr/>
        </p:nvSpPr>
        <p:spPr>
          <a:xfrm>
            <a:off x="4526280" y="3589020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99432" y="3662172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263.6</a:t>
            </a:r>
            <a:endParaRPr lang="en-US" sz="690" dirty="0"/>
          </a:p>
        </p:txBody>
      </p:sp>
      <p:sp>
        <p:nvSpPr>
          <p:cNvPr id="94" name="Shape 92"/>
          <p:cNvSpPr/>
          <p:nvPr/>
        </p:nvSpPr>
        <p:spPr>
          <a:xfrm>
            <a:off x="502920" y="3911917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6072" y="3985069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C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1554480" y="3911917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627632" y="3985069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Severe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2697480" y="3911917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770632" y="3985069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338.2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611880" y="3911917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685032" y="3985069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349.9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4526280" y="3911917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599432" y="3985069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350.2</a:t>
            </a:r>
            <a:endParaRPr lang="en-US" sz="690" dirty="0"/>
          </a:p>
        </p:txBody>
      </p:sp>
      <p:sp>
        <p:nvSpPr>
          <p:cNvPr id="104" name="Shape 102"/>
          <p:cNvSpPr/>
          <p:nvPr/>
        </p:nvSpPr>
        <p:spPr>
          <a:xfrm>
            <a:off x="502920" y="4234815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76072" y="4307967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C</a:t>
            </a:r>
            <a:endParaRPr lang="en-US" sz="690" dirty="0"/>
          </a:p>
        </p:txBody>
      </p:sp>
      <p:sp>
        <p:nvSpPr>
          <p:cNvPr id="106" name="Shape 104"/>
          <p:cNvSpPr/>
          <p:nvPr/>
        </p:nvSpPr>
        <p:spPr>
          <a:xfrm>
            <a:off x="1554480" y="4234815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627632" y="4307967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Extreme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697480" y="4234815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70632" y="4307967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777.0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3611880" y="4234815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685032" y="4307967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790.8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4526280" y="4234815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599432" y="4307967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795.8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502920" y="4557713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76072" y="4630865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D</a:t>
            </a:r>
            <a:endParaRPr lang="en-US" sz="690" dirty="0"/>
          </a:p>
        </p:txBody>
      </p:sp>
      <p:sp>
        <p:nvSpPr>
          <p:cNvPr id="116" name="Shape 114"/>
          <p:cNvSpPr/>
          <p:nvPr/>
        </p:nvSpPr>
        <p:spPr>
          <a:xfrm>
            <a:off x="1554480" y="4557713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627632" y="4630865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Baseline</a:t>
            </a:r>
            <a:endParaRPr lang="en-US" sz="690" dirty="0"/>
          </a:p>
        </p:txBody>
      </p:sp>
      <p:sp>
        <p:nvSpPr>
          <p:cNvPr id="118" name="Shape 116"/>
          <p:cNvSpPr/>
          <p:nvPr/>
        </p:nvSpPr>
        <p:spPr>
          <a:xfrm>
            <a:off x="2697480" y="4557713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770632" y="4630865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24.6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3611880" y="4557713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685032" y="4630865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33.4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526280" y="4557713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599432" y="4630865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33.8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502920" y="4880610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76072" y="4953762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D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1554480" y="4880610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627632" y="4953762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Mild</a:t>
            </a:r>
            <a:endParaRPr lang="en-US" sz="690" dirty="0"/>
          </a:p>
        </p:txBody>
      </p:sp>
      <p:sp>
        <p:nvSpPr>
          <p:cNvPr id="128" name="Shape 126"/>
          <p:cNvSpPr/>
          <p:nvPr/>
        </p:nvSpPr>
        <p:spPr>
          <a:xfrm>
            <a:off x="2697480" y="4880610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770632" y="4953762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97.5</a:t>
            </a:r>
            <a:endParaRPr lang="en-US" sz="690" dirty="0"/>
          </a:p>
        </p:txBody>
      </p:sp>
      <p:sp>
        <p:nvSpPr>
          <p:cNvPr id="130" name="Shape 128"/>
          <p:cNvSpPr/>
          <p:nvPr/>
        </p:nvSpPr>
        <p:spPr>
          <a:xfrm>
            <a:off x="3611880" y="4880610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685032" y="4953762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104.4</a:t>
            </a:r>
            <a:endParaRPr lang="en-US" sz="690" dirty="0"/>
          </a:p>
        </p:txBody>
      </p:sp>
      <p:sp>
        <p:nvSpPr>
          <p:cNvPr id="132" name="Shape 130"/>
          <p:cNvSpPr/>
          <p:nvPr/>
        </p:nvSpPr>
        <p:spPr>
          <a:xfrm>
            <a:off x="4526280" y="4880610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599432" y="4953762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105.9</a:t>
            </a:r>
            <a:endParaRPr lang="en-US" sz="690" dirty="0"/>
          </a:p>
        </p:txBody>
      </p:sp>
      <p:sp>
        <p:nvSpPr>
          <p:cNvPr id="134" name="Shape 132"/>
          <p:cNvSpPr/>
          <p:nvPr/>
        </p:nvSpPr>
        <p:spPr>
          <a:xfrm>
            <a:off x="502920" y="5203508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76072" y="5276660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D</a:t>
            </a:r>
            <a:endParaRPr lang="en-US" sz="690" dirty="0"/>
          </a:p>
        </p:txBody>
      </p:sp>
      <p:sp>
        <p:nvSpPr>
          <p:cNvPr id="136" name="Shape 134"/>
          <p:cNvSpPr/>
          <p:nvPr/>
        </p:nvSpPr>
        <p:spPr>
          <a:xfrm>
            <a:off x="1554480" y="5203508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627632" y="5276660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Moderate</a:t>
            </a:r>
            <a:endParaRPr lang="en-US" sz="690" dirty="0"/>
          </a:p>
        </p:txBody>
      </p:sp>
      <p:sp>
        <p:nvSpPr>
          <p:cNvPr id="138" name="Shape 136"/>
          <p:cNvSpPr/>
          <p:nvPr/>
        </p:nvSpPr>
        <p:spPr>
          <a:xfrm>
            <a:off x="2697480" y="5203508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770632" y="5276660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179.3</a:t>
            </a:r>
            <a:endParaRPr lang="en-US" sz="690" dirty="0"/>
          </a:p>
        </p:txBody>
      </p:sp>
      <p:sp>
        <p:nvSpPr>
          <p:cNvPr id="140" name="Shape 138"/>
          <p:cNvSpPr/>
          <p:nvPr/>
        </p:nvSpPr>
        <p:spPr>
          <a:xfrm>
            <a:off x="3611880" y="5203508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685032" y="5276660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195.6</a:t>
            </a:r>
            <a:endParaRPr lang="en-US" sz="690" dirty="0"/>
          </a:p>
        </p:txBody>
      </p:sp>
      <p:sp>
        <p:nvSpPr>
          <p:cNvPr id="142" name="Shape 140"/>
          <p:cNvSpPr/>
          <p:nvPr/>
        </p:nvSpPr>
        <p:spPr>
          <a:xfrm>
            <a:off x="4526280" y="5203508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599432" y="5276660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200.2</a:t>
            </a:r>
            <a:endParaRPr lang="en-US" sz="690" dirty="0"/>
          </a:p>
        </p:txBody>
      </p:sp>
      <p:sp>
        <p:nvSpPr>
          <p:cNvPr id="144" name="Shape 142"/>
          <p:cNvSpPr/>
          <p:nvPr/>
        </p:nvSpPr>
        <p:spPr>
          <a:xfrm>
            <a:off x="502920" y="5526405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76072" y="5599557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D</a:t>
            </a:r>
            <a:endParaRPr lang="en-US" sz="690" dirty="0"/>
          </a:p>
        </p:txBody>
      </p:sp>
      <p:sp>
        <p:nvSpPr>
          <p:cNvPr id="146" name="Shape 144"/>
          <p:cNvSpPr/>
          <p:nvPr/>
        </p:nvSpPr>
        <p:spPr>
          <a:xfrm>
            <a:off x="1554480" y="5526405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627632" y="5599557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Severe</a:t>
            </a:r>
            <a:endParaRPr lang="en-US" sz="690" dirty="0"/>
          </a:p>
        </p:txBody>
      </p:sp>
      <p:sp>
        <p:nvSpPr>
          <p:cNvPr id="148" name="Shape 146"/>
          <p:cNvSpPr/>
          <p:nvPr/>
        </p:nvSpPr>
        <p:spPr>
          <a:xfrm>
            <a:off x="2697480" y="5526405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770632" y="5599557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321.9</a:t>
            </a:r>
            <a:endParaRPr lang="en-US" sz="690" dirty="0"/>
          </a:p>
        </p:txBody>
      </p:sp>
      <p:sp>
        <p:nvSpPr>
          <p:cNvPr id="150" name="Shape 148"/>
          <p:cNvSpPr/>
          <p:nvPr/>
        </p:nvSpPr>
        <p:spPr>
          <a:xfrm>
            <a:off x="3611880" y="5526405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685032" y="5599557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328.9</a:t>
            </a:r>
            <a:endParaRPr lang="en-US" sz="690" dirty="0"/>
          </a:p>
        </p:txBody>
      </p:sp>
      <p:sp>
        <p:nvSpPr>
          <p:cNvPr id="152" name="Shape 150"/>
          <p:cNvSpPr/>
          <p:nvPr/>
        </p:nvSpPr>
        <p:spPr>
          <a:xfrm>
            <a:off x="4526280" y="5526405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599432" y="5599557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329.2</a:t>
            </a:r>
            <a:endParaRPr lang="en-US" sz="690" dirty="0"/>
          </a:p>
        </p:txBody>
      </p:sp>
      <p:sp>
        <p:nvSpPr>
          <p:cNvPr id="154" name="Shape 152"/>
          <p:cNvSpPr/>
          <p:nvPr/>
        </p:nvSpPr>
        <p:spPr>
          <a:xfrm>
            <a:off x="502920" y="5849303"/>
            <a:ext cx="105156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76072" y="5922455"/>
            <a:ext cx="90525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Site D</a:t>
            </a:r>
            <a:endParaRPr lang="en-US" sz="690" dirty="0"/>
          </a:p>
        </p:txBody>
      </p:sp>
      <p:sp>
        <p:nvSpPr>
          <p:cNvPr id="156" name="Shape 154"/>
          <p:cNvSpPr/>
          <p:nvPr/>
        </p:nvSpPr>
        <p:spPr>
          <a:xfrm>
            <a:off x="1554480" y="5849303"/>
            <a:ext cx="11430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627632" y="5922455"/>
            <a:ext cx="9966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Extreme</a:t>
            </a:r>
            <a:endParaRPr lang="en-US" sz="690" dirty="0"/>
          </a:p>
        </p:txBody>
      </p:sp>
      <p:sp>
        <p:nvSpPr>
          <p:cNvPr id="158" name="Shape 156"/>
          <p:cNvSpPr/>
          <p:nvPr/>
        </p:nvSpPr>
        <p:spPr>
          <a:xfrm>
            <a:off x="2697480" y="5849303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770632" y="5922455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773.7</a:t>
            </a:r>
            <a:endParaRPr lang="en-US" sz="690" dirty="0"/>
          </a:p>
        </p:txBody>
      </p:sp>
      <p:sp>
        <p:nvSpPr>
          <p:cNvPr id="160" name="Shape 158"/>
          <p:cNvSpPr/>
          <p:nvPr/>
        </p:nvSpPr>
        <p:spPr>
          <a:xfrm>
            <a:off x="3611880" y="5849303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685032" y="5922455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787.2</a:t>
            </a:r>
            <a:endParaRPr lang="en-US" sz="690" dirty="0"/>
          </a:p>
        </p:txBody>
      </p:sp>
      <p:sp>
        <p:nvSpPr>
          <p:cNvPr id="162" name="Shape 160"/>
          <p:cNvSpPr/>
          <p:nvPr/>
        </p:nvSpPr>
        <p:spPr>
          <a:xfrm>
            <a:off x="4526280" y="5849303"/>
            <a:ext cx="914400" cy="322898"/>
          </a:xfrm>
          <a:prstGeom prst="roundRect">
            <a:avLst>
              <a:gd name="adj" fmla="val 2265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599432" y="5922455"/>
            <a:ext cx="768096" cy="1765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00000"/>
                </a:solidFill>
              </a:rPr>
              <a:t>794.2</a:t>
            </a:r>
            <a:endParaRPr lang="en-US" sz="690" dirty="0"/>
          </a:p>
        </p:txBody>
      </p:sp>
      <p:sp>
        <p:nvSpPr>
          <p:cNvPr id="164" name="Shape 16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Endpoint detail: 5-site federation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78992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Site</a:t>
            </a:r>
            <a:endParaRPr lang="en-US" sz="640" dirty="0"/>
          </a:p>
        </p:txBody>
      </p:sp>
      <p:sp>
        <p:nvSpPr>
          <p:cNvPr id="6" name="Shape 4"/>
          <p:cNvSpPr/>
          <p:nvPr/>
        </p:nvSpPr>
        <p:spPr>
          <a:xfrm>
            <a:off x="1463040" y="1005840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6192" y="1078992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Condition</a:t>
            </a:r>
            <a:endParaRPr lang="en-US" sz="640" dirty="0"/>
          </a:p>
        </p:txBody>
      </p:sp>
      <p:sp>
        <p:nvSpPr>
          <p:cNvPr id="8" name="Shape 6"/>
          <p:cNvSpPr/>
          <p:nvPr/>
        </p:nvSpPr>
        <p:spPr>
          <a:xfrm>
            <a:off x="2542032" y="1005840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15184" y="1078992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Mean</a:t>
            </a:r>
            <a:endParaRPr lang="en-US" sz="64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078992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P95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4224528" y="1005840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078992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P99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502920" y="1251857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1325009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B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1463040" y="1251857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36192" y="1325009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Baseline</a:t>
            </a:r>
            <a:endParaRPr lang="en-US" sz="640" dirty="0"/>
          </a:p>
        </p:txBody>
      </p:sp>
      <p:sp>
        <p:nvSpPr>
          <p:cNvPr id="18" name="Shape 16"/>
          <p:cNvSpPr/>
          <p:nvPr/>
        </p:nvSpPr>
        <p:spPr>
          <a:xfrm>
            <a:off x="2542032" y="1251857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1325009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82.5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>
            <a:off x="3383280" y="1251857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1325009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348.0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4224528" y="1251857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1325009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554.5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502920" y="1497874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1571026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B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1463040" y="1497874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36192" y="1571026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Mild</a:t>
            </a:r>
            <a:endParaRPr lang="en-US" sz="640" dirty="0"/>
          </a:p>
        </p:txBody>
      </p:sp>
      <p:sp>
        <p:nvSpPr>
          <p:cNvPr id="28" name="Shape 26"/>
          <p:cNvSpPr/>
          <p:nvPr/>
        </p:nvSpPr>
        <p:spPr>
          <a:xfrm>
            <a:off x="2542032" y="1497874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15184" y="1571026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175.4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3383280" y="1497874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1571026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183.6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4224528" y="1497874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1571026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186.0</a:t>
            </a:r>
            <a:endParaRPr lang="en-US" sz="640" dirty="0"/>
          </a:p>
        </p:txBody>
      </p:sp>
      <p:sp>
        <p:nvSpPr>
          <p:cNvPr id="34" name="Shape 32"/>
          <p:cNvSpPr/>
          <p:nvPr/>
        </p:nvSpPr>
        <p:spPr>
          <a:xfrm>
            <a:off x="502920" y="1743891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1817043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B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1463040" y="1743891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36192" y="1817043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Moderate</a:t>
            </a:r>
            <a:endParaRPr lang="en-US" sz="640" dirty="0"/>
          </a:p>
        </p:txBody>
      </p:sp>
      <p:sp>
        <p:nvSpPr>
          <p:cNvPr id="38" name="Shape 36"/>
          <p:cNvSpPr/>
          <p:nvPr/>
        </p:nvSpPr>
        <p:spPr>
          <a:xfrm>
            <a:off x="2542032" y="1743891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15184" y="1817043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331.1</a:t>
            </a:r>
            <a:endParaRPr lang="en-US" sz="640" dirty="0"/>
          </a:p>
        </p:txBody>
      </p:sp>
      <p:sp>
        <p:nvSpPr>
          <p:cNvPr id="40" name="Shape 38"/>
          <p:cNvSpPr/>
          <p:nvPr/>
        </p:nvSpPr>
        <p:spPr>
          <a:xfrm>
            <a:off x="3383280" y="1743891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1817043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351.8</a:t>
            </a:r>
            <a:endParaRPr lang="en-US" sz="640" dirty="0"/>
          </a:p>
        </p:txBody>
      </p:sp>
      <p:sp>
        <p:nvSpPr>
          <p:cNvPr id="42" name="Shape 40"/>
          <p:cNvSpPr/>
          <p:nvPr/>
        </p:nvSpPr>
        <p:spPr>
          <a:xfrm>
            <a:off x="4224528" y="1743891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1817043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351.9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502920" y="1989909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2063061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B</a:t>
            </a:r>
            <a:endParaRPr lang="en-US" sz="640" dirty="0"/>
          </a:p>
        </p:txBody>
      </p:sp>
      <p:sp>
        <p:nvSpPr>
          <p:cNvPr id="46" name="Shape 44"/>
          <p:cNvSpPr/>
          <p:nvPr/>
        </p:nvSpPr>
        <p:spPr>
          <a:xfrm>
            <a:off x="1463040" y="1989909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36192" y="2063061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Severe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2542032" y="1989909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15184" y="2063061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630.0</a:t>
            </a:r>
            <a:endParaRPr lang="en-US" sz="640" dirty="0"/>
          </a:p>
        </p:txBody>
      </p:sp>
      <p:sp>
        <p:nvSpPr>
          <p:cNvPr id="50" name="Shape 48"/>
          <p:cNvSpPr/>
          <p:nvPr/>
        </p:nvSpPr>
        <p:spPr>
          <a:xfrm>
            <a:off x="3383280" y="1989909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56432" y="2063061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641.0</a:t>
            </a:r>
            <a:endParaRPr lang="en-US" sz="640" dirty="0"/>
          </a:p>
        </p:txBody>
      </p:sp>
      <p:sp>
        <p:nvSpPr>
          <p:cNvPr id="52" name="Shape 50"/>
          <p:cNvSpPr/>
          <p:nvPr/>
        </p:nvSpPr>
        <p:spPr>
          <a:xfrm>
            <a:off x="4224528" y="1989909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0" y="2063061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644.0</a:t>
            </a:r>
            <a:endParaRPr lang="en-US" sz="640" dirty="0"/>
          </a:p>
        </p:txBody>
      </p:sp>
      <p:sp>
        <p:nvSpPr>
          <p:cNvPr id="54" name="Shape 52"/>
          <p:cNvSpPr/>
          <p:nvPr/>
        </p:nvSpPr>
        <p:spPr>
          <a:xfrm>
            <a:off x="502920" y="2235926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" y="2309078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B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1463040" y="2235926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36192" y="2309078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Extreme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2542032" y="2235926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15184" y="2309078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1532.9</a:t>
            </a:r>
            <a:endParaRPr lang="en-US" sz="640" dirty="0"/>
          </a:p>
        </p:txBody>
      </p:sp>
      <p:sp>
        <p:nvSpPr>
          <p:cNvPr id="60" name="Shape 58"/>
          <p:cNvSpPr/>
          <p:nvPr/>
        </p:nvSpPr>
        <p:spPr>
          <a:xfrm>
            <a:off x="3383280" y="2235926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56432" y="2309078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1546.3</a:t>
            </a:r>
            <a:endParaRPr lang="en-US" sz="640" dirty="0"/>
          </a:p>
        </p:txBody>
      </p:sp>
      <p:sp>
        <p:nvSpPr>
          <p:cNvPr id="62" name="Shape 60"/>
          <p:cNvSpPr/>
          <p:nvPr/>
        </p:nvSpPr>
        <p:spPr>
          <a:xfrm>
            <a:off x="4224528" y="2235926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97680" y="2309078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1547.4</a:t>
            </a:r>
            <a:endParaRPr lang="en-US" sz="640" dirty="0"/>
          </a:p>
        </p:txBody>
      </p:sp>
      <p:sp>
        <p:nvSpPr>
          <p:cNvPr id="64" name="Shape 62"/>
          <p:cNvSpPr/>
          <p:nvPr/>
        </p:nvSpPr>
        <p:spPr>
          <a:xfrm>
            <a:off x="502920" y="2481943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072" y="2555095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C</a:t>
            </a:r>
            <a:endParaRPr lang="en-US" sz="640" dirty="0"/>
          </a:p>
        </p:txBody>
      </p:sp>
      <p:sp>
        <p:nvSpPr>
          <p:cNvPr id="66" name="Shape 64"/>
          <p:cNvSpPr/>
          <p:nvPr/>
        </p:nvSpPr>
        <p:spPr>
          <a:xfrm>
            <a:off x="1463040" y="2481943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36192" y="2555095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Baseline</a:t>
            </a:r>
            <a:endParaRPr lang="en-US" sz="640" dirty="0"/>
          </a:p>
        </p:txBody>
      </p:sp>
      <p:sp>
        <p:nvSpPr>
          <p:cNvPr id="68" name="Shape 66"/>
          <p:cNvSpPr/>
          <p:nvPr/>
        </p:nvSpPr>
        <p:spPr>
          <a:xfrm>
            <a:off x="2542032" y="2481943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15184" y="2555095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38.1</a:t>
            </a:r>
            <a:endParaRPr lang="en-US" sz="640" dirty="0"/>
          </a:p>
        </p:txBody>
      </p:sp>
      <p:sp>
        <p:nvSpPr>
          <p:cNvPr id="70" name="Shape 68"/>
          <p:cNvSpPr/>
          <p:nvPr/>
        </p:nvSpPr>
        <p:spPr>
          <a:xfrm>
            <a:off x="3383280" y="2481943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56432" y="2555095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71.8</a:t>
            </a:r>
            <a:endParaRPr lang="en-US" sz="640" dirty="0"/>
          </a:p>
        </p:txBody>
      </p:sp>
      <p:sp>
        <p:nvSpPr>
          <p:cNvPr id="72" name="Shape 70"/>
          <p:cNvSpPr/>
          <p:nvPr/>
        </p:nvSpPr>
        <p:spPr>
          <a:xfrm>
            <a:off x="4224528" y="2481943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97680" y="2555095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87.0</a:t>
            </a:r>
            <a:endParaRPr lang="en-US" sz="640" dirty="0"/>
          </a:p>
        </p:txBody>
      </p:sp>
      <p:sp>
        <p:nvSpPr>
          <p:cNvPr id="74" name="Shape 72"/>
          <p:cNvSpPr/>
          <p:nvPr/>
        </p:nvSpPr>
        <p:spPr>
          <a:xfrm>
            <a:off x="502920" y="2727960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6072" y="2801112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C</a:t>
            </a:r>
            <a:endParaRPr lang="en-US" sz="640" dirty="0"/>
          </a:p>
        </p:txBody>
      </p:sp>
      <p:sp>
        <p:nvSpPr>
          <p:cNvPr id="76" name="Shape 74"/>
          <p:cNvSpPr/>
          <p:nvPr/>
        </p:nvSpPr>
        <p:spPr>
          <a:xfrm>
            <a:off x="1463040" y="2727960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36192" y="2801112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Mild</a:t>
            </a:r>
            <a:endParaRPr lang="en-US" sz="640" dirty="0"/>
          </a:p>
        </p:txBody>
      </p:sp>
      <p:sp>
        <p:nvSpPr>
          <p:cNvPr id="78" name="Shape 76"/>
          <p:cNvSpPr/>
          <p:nvPr/>
        </p:nvSpPr>
        <p:spPr>
          <a:xfrm>
            <a:off x="2542032" y="2727960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15184" y="2801112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100.7</a:t>
            </a:r>
            <a:endParaRPr lang="en-US" sz="640" dirty="0"/>
          </a:p>
        </p:txBody>
      </p:sp>
      <p:sp>
        <p:nvSpPr>
          <p:cNvPr id="80" name="Shape 78"/>
          <p:cNvSpPr/>
          <p:nvPr/>
        </p:nvSpPr>
        <p:spPr>
          <a:xfrm>
            <a:off x="3383280" y="2727960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56432" y="2801112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117.3</a:t>
            </a:r>
            <a:endParaRPr lang="en-US" sz="640" dirty="0"/>
          </a:p>
        </p:txBody>
      </p:sp>
      <p:sp>
        <p:nvSpPr>
          <p:cNvPr id="82" name="Shape 80"/>
          <p:cNvSpPr/>
          <p:nvPr/>
        </p:nvSpPr>
        <p:spPr>
          <a:xfrm>
            <a:off x="4224528" y="2727960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97680" y="2801112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126.5</a:t>
            </a:r>
            <a:endParaRPr lang="en-US" sz="640" dirty="0"/>
          </a:p>
        </p:txBody>
      </p:sp>
      <p:sp>
        <p:nvSpPr>
          <p:cNvPr id="84" name="Shape 82"/>
          <p:cNvSpPr/>
          <p:nvPr/>
        </p:nvSpPr>
        <p:spPr>
          <a:xfrm>
            <a:off x="502920" y="2973977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6072" y="3047129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C</a:t>
            </a:r>
            <a:endParaRPr lang="en-US" sz="640" dirty="0"/>
          </a:p>
        </p:txBody>
      </p:sp>
      <p:sp>
        <p:nvSpPr>
          <p:cNvPr id="86" name="Shape 84"/>
          <p:cNvSpPr/>
          <p:nvPr/>
        </p:nvSpPr>
        <p:spPr>
          <a:xfrm>
            <a:off x="1463040" y="2973977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536192" y="3047129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Moderate</a:t>
            </a:r>
            <a:endParaRPr lang="en-US" sz="640" dirty="0"/>
          </a:p>
        </p:txBody>
      </p:sp>
      <p:sp>
        <p:nvSpPr>
          <p:cNvPr id="88" name="Shape 86"/>
          <p:cNvSpPr/>
          <p:nvPr/>
        </p:nvSpPr>
        <p:spPr>
          <a:xfrm>
            <a:off x="2542032" y="2973977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615184" y="3047129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174.5</a:t>
            </a:r>
            <a:endParaRPr lang="en-US" sz="640" dirty="0"/>
          </a:p>
        </p:txBody>
      </p:sp>
      <p:sp>
        <p:nvSpPr>
          <p:cNvPr id="90" name="Shape 88"/>
          <p:cNvSpPr/>
          <p:nvPr/>
        </p:nvSpPr>
        <p:spPr>
          <a:xfrm>
            <a:off x="3383280" y="2973977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456432" y="3047129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187.8</a:t>
            </a:r>
            <a:endParaRPr lang="en-US" sz="640" dirty="0"/>
          </a:p>
        </p:txBody>
      </p:sp>
      <p:sp>
        <p:nvSpPr>
          <p:cNvPr id="92" name="Shape 90"/>
          <p:cNvSpPr/>
          <p:nvPr/>
        </p:nvSpPr>
        <p:spPr>
          <a:xfrm>
            <a:off x="4224528" y="2973977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297680" y="3047129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189.1</a:t>
            </a:r>
            <a:endParaRPr lang="en-US" sz="640" dirty="0"/>
          </a:p>
        </p:txBody>
      </p:sp>
      <p:sp>
        <p:nvSpPr>
          <p:cNvPr id="94" name="Shape 92"/>
          <p:cNvSpPr/>
          <p:nvPr/>
        </p:nvSpPr>
        <p:spPr>
          <a:xfrm>
            <a:off x="502920" y="3219994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6072" y="3293146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C</a:t>
            </a:r>
            <a:endParaRPr lang="en-US" sz="640" dirty="0"/>
          </a:p>
        </p:txBody>
      </p:sp>
      <p:sp>
        <p:nvSpPr>
          <p:cNvPr id="96" name="Shape 94"/>
          <p:cNvSpPr/>
          <p:nvPr/>
        </p:nvSpPr>
        <p:spPr>
          <a:xfrm>
            <a:off x="1463040" y="3219994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536192" y="3293146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Severe</a:t>
            </a:r>
            <a:endParaRPr lang="en-US" sz="640" dirty="0"/>
          </a:p>
        </p:txBody>
      </p:sp>
      <p:sp>
        <p:nvSpPr>
          <p:cNvPr id="98" name="Shape 96"/>
          <p:cNvSpPr/>
          <p:nvPr/>
        </p:nvSpPr>
        <p:spPr>
          <a:xfrm>
            <a:off x="2542032" y="3219994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615184" y="3293146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333.0</a:t>
            </a:r>
            <a:endParaRPr lang="en-US" sz="640" dirty="0"/>
          </a:p>
        </p:txBody>
      </p:sp>
      <p:sp>
        <p:nvSpPr>
          <p:cNvPr id="100" name="Shape 98"/>
          <p:cNvSpPr/>
          <p:nvPr/>
        </p:nvSpPr>
        <p:spPr>
          <a:xfrm>
            <a:off x="3383280" y="3219994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456432" y="3293146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357.1</a:t>
            </a:r>
            <a:endParaRPr lang="en-US" sz="640" dirty="0"/>
          </a:p>
        </p:txBody>
      </p:sp>
      <p:sp>
        <p:nvSpPr>
          <p:cNvPr id="102" name="Shape 100"/>
          <p:cNvSpPr/>
          <p:nvPr/>
        </p:nvSpPr>
        <p:spPr>
          <a:xfrm>
            <a:off x="4224528" y="3219994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297680" y="3293146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361.2</a:t>
            </a:r>
            <a:endParaRPr lang="en-US" sz="640" dirty="0"/>
          </a:p>
        </p:txBody>
      </p:sp>
      <p:sp>
        <p:nvSpPr>
          <p:cNvPr id="104" name="Shape 102"/>
          <p:cNvSpPr/>
          <p:nvPr/>
        </p:nvSpPr>
        <p:spPr>
          <a:xfrm>
            <a:off x="502920" y="3466011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76072" y="3539163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C</a:t>
            </a:r>
            <a:endParaRPr lang="en-US" sz="640" dirty="0"/>
          </a:p>
        </p:txBody>
      </p:sp>
      <p:sp>
        <p:nvSpPr>
          <p:cNvPr id="106" name="Shape 104"/>
          <p:cNvSpPr/>
          <p:nvPr/>
        </p:nvSpPr>
        <p:spPr>
          <a:xfrm>
            <a:off x="1463040" y="3466011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536192" y="3539163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Extreme</a:t>
            </a:r>
            <a:endParaRPr lang="en-US" sz="640" dirty="0"/>
          </a:p>
        </p:txBody>
      </p:sp>
      <p:sp>
        <p:nvSpPr>
          <p:cNvPr id="108" name="Shape 106"/>
          <p:cNvSpPr/>
          <p:nvPr/>
        </p:nvSpPr>
        <p:spPr>
          <a:xfrm>
            <a:off x="2542032" y="3466011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615184" y="3539163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791.2</a:t>
            </a:r>
            <a:endParaRPr lang="en-US" sz="640" dirty="0"/>
          </a:p>
        </p:txBody>
      </p:sp>
      <p:sp>
        <p:nvSpPr>
          <p:cNvPr id="110" name="Shape 108"/>
          <p:cNvSpPr/>
          <p:nvPr/>
        </p:nvSpPr>
        <p:spPr>
          <a:xfrm>
            <a:off x="3383280" y="3466011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456432" y="3539163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851.1</a:t>
            </a:r>
            <a:endParaRPr lang="en-US" sz="640" dirty="0"/>
          </a:p>
        </p:txBody>
      </p:sp>
      <p:sp>
        <p:nvSpPr>
          <p:cNvPr id="112" name="Shape 110"/>
          <p:cNvSpPr/>
          <p:nvPr/>
        </p:nvSpPr>
        <p:spPr>
          <a:xfrm>
            <a:off x="4224528" y="3466011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297680" y="3539163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880.6</a:t>
            </a:r>
            <a:endParaRPr lang="en-US" sz="640" dirty="0"/>
          </a:p>
        </p:txBody>
      </p:sp>
      <p:sp>
        <p:nvSpPr>
          <p:cNvPr id="114" name="Shape 112"/>
          <p:cNvSpPr/>
          <p:nvPr/>
        </p:nvSpPr>
        <p:spPr>
          <a:xfrm>
            <a:off x="502920" y="3712029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76072" y="3785181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D</a:t>
            </a:r>
            <a:endParaRPr lang="en-US" sz="640" dirty="0"/>
          </a:p>
        </p:txBody>
      </p:sp>
      <p:sp>
        <p:nvSpPr>
          <p:cNvPr id="116" name="Shape 114"/>
          <p:cNvSpPr/>
          <p:nvPr/>
        </p:nvSpPr>
        <p:spPr>
          <a:xfrm>
            <a:off x="1463040" y="3712029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536192" y="3785181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Baseline</a:t>
            </a:r>
            <a:endParaRPr lang="en-US" sz="640" dirty="0"/>
          </a:p>
        </p:txBody>
      </p:sp>
      <p:sp>
        <p:nvSpPr>
          <p:cNvPr id="118" name="Shape 116"/>
          <p:cNvSpPr/>
          <p:nvPr/>
        </p:nvSpPr>
        <p:spPr>
          <a:xfrm>
            <a:off x="2542032" y="3712029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615184" y="3785181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20.9</a:t>
            </a:r>
            <a:endParaRPr lang="en-US" sz="640" dirty="0"/>
          </a:p>
        </p:txBody>
      </p:sp>
      <p:sp>
        <p:nvSpPr>
          <p:cNvPr id="120" name="Shape 118"/>
          <p:cNvSpPr/>
          <p:nvPr/>
        </p:nvSpPr>
        <p:spPr>
          <a:xfrm>
            <a:off x="3383280" y="3712029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456432" y="3785181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23.9</a:t>
            </a:r>
            <a:endParaRPr lang="en-US" sz="640" dirty="0"/>
          </a:p>
        </p:txBody>
      </p:sp>
      <p:sp>
        <p:nvSpPr>
          <p:cNvPr id="122" name="Shape 120"/>
          <p:cNvSpPr/>
          <p:nvPr/>
        </p:nvSpPr>
        <p:spPr>
          <a:xfrm>
            <a:off x="4224528" y="3712029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97680" y="3785181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24.2</a:t>
            </a:r>
            <a:endParaRPr lang="en-US" sz="640" dirty="0"/>
          </a:p>
        </p:txBody>
      </p:sp>
      <p:sp>
        <p:nvSpPr>
          <p:cNvPr id="124" name="Shape 122"/>
          <p:cNvSpPr/>
          <p:nvPr/>
        </p:nvSpPr>
        <p:spPr>
          <a:xfrm>
            <a:off x="502920" y="3958046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76072" y="4031198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D</a:t>
            </a:r>
            <a:endParaRPr lang="en-US" sz="640" dirty="0"/>
          </a:p>
        </p:txBody>
      </p:sp>
      <p:sp>
        <p:nvSpPr>
          <p:cNvPr id="126" name="Shape 124"/>
          <p:cNvSpPr/>
          <p:nvPr/>
        </p:nvSpPr>
        <p:spPr>
          <a:xfrm>
            <a:off x="1463040" y="3958046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536192" y="4031198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Mild</a:t>
            </a:r>
            <a:endParaRPr lang="en-US" sz="640" dirty="0"/>
          </a:p>
        </p:txBody>
      </p:sp>
      <p:sp>
        <p:nvSpPr>
          <p:cNvPr id="128" name="Shape 126"/>
          <p:cNvSpPr/>
          <p:nvPr/>
        </p:nvSpPr>
        <p:spPr>
          <a:xfrm>
            <a:off x="2542032" y="3958046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615184" y="4031198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100.8</a:t>
            </a:r>
            <a:endParaRPr lang="en-US" sz="640" dirty="0"/>
          </a:p>
        </p:txBody>
      </p:sp>
      <p:sp>
        <p:nvSpPr>
          <p:cNvPr id="130" name="Shape 128"/>
          <p:cNvSpPr/>
          <p:nvPr/>
        </p:nvSpPr>
        <p:spPr>
          <a:xfrm>
            <a:off x="3383280" y="3958046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456432" y="4031198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120.9</a:t>
            </a:r>
            <a:endParaRPr lang="en-US" sz="640" dirty="0"/>
          </a:p>
        </p:txBody>
      </p:sp>
      <p:sp>
        <p:nvSpPr>
          <p:cNvPr id="132" name="Shape 130"/>
          <p:cNvSpPr/>
          <p:nvPr/>
        </p:nvSpPr>
        <p:spPr>
          <a:xfrm>
            <a:off x="4224528" y="3958046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297680" y="4031198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130.8</a:t>
            </a:r>
            <a:endParaRPr lang="en-US" sz="640" dirty="0"/>
          </a:p>
        </p:txBody>
      </p:sp>
      <p:sp>
        <p:nvSpPr>
          <p:cNvPr id="134" name="Shape 132"/>
          <p:cNvSpPr/>
          <p:nvPr/>
        </p:nvSpPr>
        <p:spPr>
          <a:xfrm>
            <a:off x="502920" y="4204063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76072" y="4277215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D</a:t>
            </a:r>
            <a:endParaRPr lang="en-US" sz="640" dirty="0"/>
          </a:p>
        </p:txBody>
      </p:sp>
      <p:sp>
        <p:nvSpPr>
          <p:cNvPr id="136" name="Shape 134"/>
          <p:cNvSpPr/>
          <p:nvPr/>
        </p:nvSpPr>
        <p:spPr>
          <a:xfrm>
            <a:off x="1463040" y="4204063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536192" y="4277215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Moderate</a:t>
            </a:r>
            <a:endParaRPr lang="en-US" sz="640" dirty="0"/>
          </a:p>
        </p:txBody>
      </p:sp>
      <p:sp>
        <p:nvSpPr>
          <p:cNvPr id="138" name="Shape 136"/>
          <p:cNvSpPr/>
          <p:nvPr/>
        </p:nvSpPr>
        <p:spPr>
          <a:xfrm>
            <a:off x="2542032" y="4204063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615184" y="4277215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195.1</a:t>
            </a:r>
            <a:endParaRPr lang="en-US" sz="640" dirty="0"/>
          </a:p>
        </p:txBody>
      </p:sp>
      <p:sp>
        <p:nvSpPr>
          <p:cNvPr id="140" name="Shape 138"/>
          <p:cNvSpPr/>
          <p:nvPr/>
        </p:nvSpPr>
        <p:spPr>
          <a:xfrm>
            <a:off x="3383280" y="4204063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456432" y="4277215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224.3</a:t>
            </a:r>
            <a:endParaRPr lang="en-US" sz="640" dirty="0"/>
          </a:p>
        </p:txBody>
      </p:sp>
      <p:sp>
        <p:nvSpPr>
          <p:cNvPr id="142" name="Shape 140"/>
          <p:cNvSpPr/>
          <p:nvPr/>
        </p:nvSpPr>
        <p:spPr>
          <a:xfrm>
            <a:off x="4224528" y="4204063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297680" y="4277215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240.4</a:t>
            </a:r>
            <a:endParaRPr lang="en-US" sz="640" dirty="0"/>
          </a:p>
        </p:txBody>
      </p:sp>
      <p:sp>
        <p:nvSpPr>
          <p:cNvPr id="144" name="Shape 142"/>
          <p:cNvSpPr/>
          <p:nvPr/>
        </p:nvSpPr>
        <p:spPr>
          <a:xfrm>
            <a:off x="502920" y="4450080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76072" y="4523232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D</a:t>
            </a:r>
            <a:endParaRPr lang="en-US" sz="640" dirty="0"/>
          </a:p>
        </p:txBody>
      </p:sp>
      <p:sp>
        <p:nvSpPr>
          <p:cNvPr id="146" name="Shape 144"/>
          <p:cNvSpPr/>
          <p:nvPr/>
        </p:nvSpPr>
        <p:spPr>
          <a:xfrm>
            <a:off x="1463040" y="4450080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536192" y="4523232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Severe</a:t>
            </a:r>
            <a:endParaRPr lang="en-US" sz="640" dirty="0"/>
          </a:p>
        </p:txBody>
      </p:sp>
      <p:sp>
        <p:nvSpPr>
          <p:cNvPr id="148" name="Shape 146"/>
          <p:cNvSpPr/>
          <p:nvPr/>
        </p:nvSpPr>
        <p:spPr>
          <a:xfrm>
            <a:off x="2542032" y="4450080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615184" y="4523232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340.8</a:t>
            </a:r>
            <a:endParaRPr lang="en-US" sz="640" dirty="0"/>
          </a:p>
        </p:txBody>
      </p:sp>
      <p:sp>
        <p:nvSpPr>
          <p:cNvPr id="150" name="Shape 148"/>
          <p:cNvSpPr/>
          <p:nvPr/>
        </p:nvSpPr>
        <p:spPr>
          <a:xfrm>
            <a:off x="3383280" y="4450080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456432" y="4523232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361.1</a:t>
            </a:r>
            <a:endParaRPr lang="en-US" sz="640" dirty="0"/>
          </a:p>
        </p:txBody>
      </p:sp>
      <p:sp>
        <p:nvSpPr>
          <p:cNvPr id="152" name="Shape 150"/>
          <p:cNvSpPr/>
          <p:nvPr/>
        </p:nvSpPr>
        <p:spPr>
          <a:xfrm>
            <a:off x="4224528" y="4450080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97680" y="4523232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361.4</a:t>
            </a:r>
            <a:endParaRPr lang="en-US" sz="640" dirty="0"/>
          </a:p>
        </p:txBody>
      </p:sp>
      <p:sp>
        <p:nvSpPr>
          <p:cNvPr id="154" name="Shape 152"/>
          <p:cNvSpPr/>
          <p:nvPr/>
        </p:nvSpPr>
        <p:spPr>
          <a:xfrm>
            <a:off x="502920" y="4696097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76072" y="4769249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D</a:t>
            </a:r>
            <a:endParaRPr lang="en-US" sz="640" dirty="0"/>
          </a:p>
        </p:txBody>
      </p:sp>
      <p:sp>
        <p:nvSpPr>
          <p:cNvPr id="156" name="Shape 154"/>
          <p:cNvSpPr/>
          <p:nvPr/>
        </p:nvSpPr>
        <p:spPr>
          <a:xfrm>
            <a:off x="1463040" y="4696097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536192" y="4769249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Extreme</a:t>
            </a:r>
            <a:endParaRPr lang="en-US" sz="640" dirty="0"/>
          </a:p>
        </p:txBody>
      </p:sp>
      <p:sp>
        <p:nvSpPr>
          <p:cNvPr id="158" name="Shape 156"/>
          <p:cNvSpPr/>
          <p:nvPr/>
        </p:nvSpPr>
        <p:spPr>
          <a:xfrm>
            <a:off x="2542032" y="4696097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615184" y="4769249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775.5</a:t>
            </a:r>
            <a:endParaRPr lang="en-US" sz="640" dirty="0"/>
          </a:p>
        </p:txBody>
      </p:sp>
      <p:sp>
        <p:nvSpPr>
          <p:cNvPr id="160" name="Shape 158"/>
          <p:cNvSpPr/>
          <p:nvPr/>
        </p:nvSpPr>
        <p:spPr>
          <a:xfrm>
            <a:off x="3383280" y="4696097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456432" y="4769249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796.8</a:t>
            </a:r>
            <a:endParaRPr lang="en-US" sz="640" dirty="0"/>
          </a:p>
        </p:txBody>
      </p:sp>
      <p:sp>
        <p:nvSpPr>
          <p:cNvPr id="162" name="Shape 160"/>
          <p:cNvSpPr/>
          <p:nvPr/>
        </p:nvSpPr>
        <p:spPr>
          <a:xfrm>
            <a:off x="4224528" y="4696097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297680" y="4769249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812.3</a:t>
            </a:r>
            <a:endParaRPr lang="en-US" sz="640" dirty="0"/>
          </a:p>
        </p:txBody>
      </p:sp>
      <p:sp>
        <p:nvSpPr>
          <p:cNvPr id="164" name="Shape 162"/>
          <p:cNvSpPr/>
          <p:nvPr/>
        </p:nvSpPr>
        <p:spPr>
          <a:xfrm>
            <a:off x="502920" y="4942114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76072" y="5015266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E</a:t>
            </a:r>
            <a:endParaRPr lang="en-US" sz="640" dirty="0"/>
          </a:p>
        </p:txBody>
      </p:sp>
      <p:sp>
        <p:nvSpPr>
          <p:cNvPr id="166" name="Shape 164"/>
          <p:cNvSpPr/>
          <p:nvPr/>
        </p:nvSpPr>
        <p:spPr>
          <a:xfrm>
            <a:off x="1463040" y="4942114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536192" y="5015266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Baseline</a:t>
            </a:r>
            <a:endParaRPr lang="en-US" sz="640" dirty="0"/>
          </a:p>
        </p:txBody>
      </p:sp>
      <p:sp>
        <p:nvSpPr>
          <p:cNvPr id="168" name="Shape 166"/>
          <p:cNvSpPr/>
          <p:nvPr/>
        </p:nvSpPr>
        <p:spPr>
          <a:xfrm>
            <a:off x="2542032" y="4942114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2615184" y="5015266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29.4</a:t>
            </a:r>
            <a:endParaRPr lang="en-US" sz="640" dirty="0"/>
          </a:p>
        </p:txBody>
      </p:sp>
      <p:sp>
        <p:nvSpPr>
          <p:cNvPr id="170" name="Shape 168"/>
          <p:cNvSpPr/>
          <p:nvPr/>
        </p:nvSpPr>
        <p:spPr>
          <a:xfrm>
            <a:off x="3383280" y="4942114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3456432" y="5015266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60.2</a:t>
            </a:r>
            <a:endParaRPr lang="en-US" sz="640" dirty="0"/>
          </a:p>
        </p:txBody>
      </p:sp>
      <p:sp>
        <p:nvSpPr>
          <p:cNvPr id="172" name="Shape 170"/>
          <p:cNvSpPr/>
          <p:nvPr/>
        </p:nvSpPr>
        <p:spPr>
          <a:xfrm>
            <a:off x="4224528" y="4942114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297680" y="5015266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70.9</a:t>
            </a:r>
            <a:endParaRPr lang="en-US" sz="640" dirty="0"/>
          </a:p>
        </p:txBody>
      </p:sp>
      <p:sp>
        <p:nvSpPr>
          <p:cNvPr id="174" name="Shape 172"/>
          <p:cNvSpPr/>
          <p:nvPr/>
        </p:nvSpPr>
        <p:spPr>
          <a:xfrm>
            <a:off x="502920" y="5188131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76072" y="5261283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E</a:t>
            </a:r>
            <a:endParaRPr lang="en-US" sz="640" dirty="0"/>
          </a:p>
        </p:txBody>
      </p:sp>
      <p:sp>
        <p:nvSpPr>
          <p:cNvPr id="176" name="Shape 174"/>
          <p:cNvSpPr/>
          <p:nvPr/>
        </p:nvSpPr>
        <p:spPr>
          <a:xfrm>
            <a:off x="1463040" y="5188131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536192" y="5261283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Mild</a:t>
            </a:r>
            <a:endParaRPr lang="en-US" sz="640" dirty="0"/>
          </a:p>
        </p:txBody>
      </p:sp>
      <p:sp>
        <p:nvSpPr>
          <p:cNvPr id="178" name="Shape 176"/>
          <p:cNvSpPr/>
          <p:nvPr/>
        </p:nvSpPr>
        <p:spPr>
          <a:xfrm>
            <a:off x="2542032" y="5188131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615184" y="5261283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108.4</a:t>
            </a:r>
            <a:endParaRPr lang="en-US" sz="640" dirty="0"/>
          </a:p>
        </p:txBody>
      </p:sp>
      <p:sp>
        <p:nvSpPr>
          <p:cNvPr id="180" name="Shape 178"/>
          <p:cNvSpPr/>
          <p:nvPr/>
        </p:nvSpPr>
        <p:spPr>
          <a:xfrm>
            <a:off x="3383280" y="5188131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456432" y="5261283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133.6</a:t>
            </a:r>
            <a:endParaRPr lang="en-US" sz="640" dirty="0"/>
          </a:p>
        </p:txBody>
      </p:sp>
      <p:sp>
        <p:nvSpPr>
          <p:cNvPr id="182" name="Shape 180"/>
          <p:cNvSpPr/>
          <p:nvPr/>
        </p:nvSpPr>
        <p:spPr>
          <a:xfrm>
            <a:off x="4224528" y="5188131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4297680" y="5261283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134.0</a:t>
            </a:r>
            <a:endParaRPr lang="en-US" sz="640" dirty="0"/>
          </a:p>
        </p:txBody>
      </p:sp>
      <p:sp>
        <p:nvSpPr>
          <p:cNvPr id="184" name="Shape 182"/>
          <p:cNvSpPr/>
          <p:nvPr/>
        </p:nvSpPr>
        <p:spPr>
          <a:xfrm>
            <a:off x="502920" y="5434149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576072" y="5507301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E</a:t>
            </a:r>
            <a:endParaRPr lang="en-US" sz="640" dirty="0"/>
          </a:p>
        </p:txBody>
      </p:sp>
      <p:sp>
        <p:nvSpPr>
          <p:cNvPr id="186" name="Shape 184"/>
          <p:cNvSpPr/>
          <p:nvPr/>
        </p:nvSpPr>
        <p:spPr>
          <a:xfrm>
            <a:off x="1463040" y="5434149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536192" y="5507301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Moderate</a:t>
            </a:r>
            <a:endParaRPr lang="en-US" sz="640" dirty="0"/>
          </a:p>
        </p:txBody>
      </p:sp>
      <p:sp>
        <p:nvSpPr>
          <p:cNvPr id="188" name="Shape 186"/>
          <p:cNvSpPr/>
          <p:nvPr/>
        </p:nvSpPr>
        <p:spPr>
          <a:xfrm>
            <a:off x="2542032" y="5434149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2615184" y="5507301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178.7</a:t>
            </a:r>
            <a:endParaRPr lang="en-US" sz="640" dirty="0"/>
          </a:p>
        </p:txBody>
      </p:sp>
      <p:sp>
        <p:nvSpPr>
          <p:cNvPr id="190" name="Shape 188"/>
          <p:cNvSpPr/>
          <p:nvPr/>
        </p:nvSpPr>
        <p:spPr>
          <a:xfrm>
            <a:off x="3383280" y="5434149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456432" y="5507301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186.1</a:t>
            </a:r>
            <a:endParaRPr lang="en-US" sz="640" dirty="0"/>
          </a:p>
        </p:txBody>
      </p:sp>
      <p:sp>
        <p:nvSpPr>
          <p:cNvPr id="192" name="Shape 190"/>
          <p:cNvSpPr/>
          <p:nvPr/>
        </p:nvSpPr>
        <p:spPr>
          <a:xfrm>
            <a:off x="4224528" y="5434149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4297680" y="5507301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186.5</a:t>
            </a:r>
            <a:endParaRPr lang="en-US" sz="640" dirty="0"/>
          </a:p>
        </p:txBody>
      </p:sp>
      <p:sp>
        <p:nvSpPr>
          <p:cNvPr id="194" name="Shape 192"/>
          <p:cNvSpPr/>
          <p:nvPr/>
        </p:nvSpPr>
        <p:spPr>
          <a:xfrm>
            <a:off x="502920" y="5680166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576072" y="5753318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E</a:t>
            </a:r>
            <a:endParaRPr lang="en-US" sz="640" dirty="0"/>
          </a:p>
        </p:txBody>
      </p:sp>
      <p:sp>
        <p:nvSpPr>
          <p:cNvPr id="196" name="Shape 194"/>
          <p:cNvSpPr/>
          <p:nvPr/>
        </p:nvSpPr>
        <p:spPr>
          <a:xfrm>
            <a:off x="1463040" y="5680166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1536192" y="5753318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Severe</a:t>
            </a:r>
            <a:endParaRPr lang="en-US" sz="640" dirty="0"/>
          </a:p>
        </p:txBody>
      </p:sp>
      <p:sp>
        <p:nvSpPr>
          <p:cNvPr id="198" name="Shape 196"/>
          <p:cNvSpPr/>
          <p:nvPr/>
        </p:nvSpPr>
        <p:spPr>
          <a:xfrm>
            <a:off x="2542032" y="5680166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2615184" y="5753318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329.1</a:t>
            </a:r>
            <a:endParaRPr lang="en-US" sz="640" dirty="0"/>
          </a:p>
        </p:txBody>
      </p:sp>
      <p:sp>
        <p:nvSpPr>
          <p:cNvPr id="200" name="Shape 198"/>
          <p:cNvSpPr/>
          <p:nvPr/>
        </p:nvSpPr>
        <p:spPr>
          <a:xfrm>
            <a:off x="3383280" y="5680166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3456432" y="5753318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343.9</a:t>
            </a:r>
            <a:endParaRPr lang="en-US" sz="640" dirty="0"/>
          </a:p>
        </p:txBody>
      </p:sp>
      <p:sp>
        <p:nvSpPr>
          <p:cNvPr id="202" name="Shape 200"/>
          <p:cNvSpPr/>
          <p:nvPr/>
        </p:nvSpPr>
        <p:spPr>
          <a:xfrm>
            <a:off x="4224528" y="5680166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297680" y="5753318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347.4</a:t>
            </a:r>
            <a:endParaRPr lang="en-US" sz="640" dirty="0"/>
          </a:p>
        </p:txBody>
      </p:sp>
      <p:sp>
        <p:nvSpPr>
          <p:cNvPr id="204" name="Shape 202"/>
          <p:cNvSpPr/>
          <p:nvPr/>
        </p:nvSpPr>
        <p:spPr>
          <a:xfrm>
            <a:off x="502920" y="5926183"/>
            <a:ext cx="960120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576072" y="5999335"/>
            <a:ext cx="813816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Site E</a:t>
            </a:r>
            <a:endParaRPr lang="en-US" sz="640" dirty="0"/>
          </a:p>
        </p:txBody>
      </p:sp>
      <p:sp>
        <p:nvSpPr>
          <p:cNvPr id="206" name="Shape 204"/>
          <p:cNvSpPr/>
          <p:nvPr/>
        </p:nvSpPr>
        <p:spPr>
          <a:xfrm>
            <a:off x="1463040" y="5926183"/>
            <a:ext cx="1078992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1536192" y="5999335"/>
            <a:ext cx="932688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Extreme</a:t>
            </a:r>
            <a:endParaRPr lang="en-US" sz="640" dirty="0"/>
          </a:p>
        </p:txBody>
      </p:sp>
      <p:sp>
        <p:nvSpPr>
          <p:cNvPr id="208" name="Shape 206"/>
          <p:cNvSpPr/>
          <p:nvPr/>
        </p:nvSpPr>
        <p:spPr>
          <a:xfrm>
            <a:off x="2542032" y="5926183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2615184" y="5999335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772.6</a:t>
            </a:r>
            <a:endParaRPr lang="en-US" sz="640" dirty="0"/>
          </a:p>
        </p:txBody>
      </p:sp>
      <p:sp>
        <p:nvSpPr>
          <p:cNvPr id="210" name="Shape 208"/>
          <p:cNvSpPr/>
          <p:nvPr/>
        </p:nvSpPr>
        <p:spPr>
          <a:xfrm>
            <a:off x="3383280" y="5926183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3456432" y="5999335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778.6</a:t>
            </a:r>
            <a:endParaRPr lang="en-US" sz="640" dirty="0"/>
          </a:p>
        </p:txBody>
      </p:sp>
      <p:sp>
        <p:nvSpPr>
          <p:cNvPr id="212" name="Shape 210"/>
          <p:cNvSpPr/>
          <p:nvPr/>
        </p:nvSpPr>
        <p:spPr>
          <a:xfrm>
            <a:off x="4224528" y="5926183"/>
            <a:ext cx="841248" cy="246017"/>
          </a:xfrm>
          <a:prstGeom prst="roundRect">
            <a:avLst>
              <a:gd name="adj" fmla="val 2973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4297680" y="5999335"/>
            <a:ext cx="694944" cy="997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000000"/>
                </a:solidFill>
              </a:rPr>
              <a:t>780.8</a:t>
            </a:r>
            <a:endParaRPr lang="en-US" sz="640" dirty="0"/>
          </a:p>
        </p:txBody>
      </p:sp>
      <p:sp>
        <p:nvSpPr>
          <p:cNvPr id="214" name="Shape 21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216" name="Text 214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result: denial is the intended success state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07592"/>
            <a:ext cx="14081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Client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Site A cert + JWT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0" y="123444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6352" y="1307592"/>
            <a:ext cx="14081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Nginx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mTLS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307592"/>
            <a:ext cx="14081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Rust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JWT + audience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123444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1307592"/>
            <a:ext cx="14081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OPA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Policy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778240" y="123444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1307592"/>
            <a:ext cx="14081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/raw-export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DENY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1536192"/>
            <a:ext cx="457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97680" y="1536192"/>
            <a:ext cx="457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1536192"/>
            <a:ext cx="457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21040" y="1536192"/>
            <a:ext cx="457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234440" y="292608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4168" y="30175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Measured policy-denial runs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44168" y="32644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350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44168" y="373075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all returned HTTP 403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03320" y="292608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3048" y="30175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JWT keys loaded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13048" y="32644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13048" y="373075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two issuers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72200" y="292608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0175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New sites online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81928" y="32644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81928" y="373075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C, D and 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641080" y="292608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0808" y="30175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</a:rPr>
              <a:t>Raw export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750808" y="32644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Denied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750808" y="373075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sovereignty preserved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43000" y="4800600"/>
            <a:ext cx="9875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mTLS authenticates the peer site, JWT authenticates the researcher/API token, and OPA enforces action-level policy.</a:t>
            </a:r>
            <a:endParaRPr lang="en-US" sz="1200" dirty="0"/>
          </a:p>
          <a:p>
            <a:r>
              <a:rPr lang="en-US" sz="1200" dirty="0">
                <a:solidFill>
                  <a:srgbClr val="000000"/>
                </a:solidFill>
              </a:rPr>
              <a:t>HTTP 403 therefore means the control plane, identity trust and policy engine all participated in the request path.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found: resource-scaling section is incomplete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34440"/>
            <a:ext cx="4892040" cy="1188720"/>
          </a:xfrm>
          <a:prstGeom prst="roundRect">
            <a:avLst>
              <a:gd name="adj" fmla="val 6154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07592"/>
            <a:ext cx="474573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Error observed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VM quit/powerdown failed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ERROR: b-core did not return after resource change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234440"/>
            <a:ext cx="4892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307592"/>
            <a:ext cx="474573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Impact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Resource profile comparison is incomplete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Do not report Site B CPU/RAM scaling results as final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9834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000000"/>
                </a:solidFill>
              </a:rPr>
              <a:t>The failure happened in the Site B resource-scaling experiment after DDIL size-5 measurements.</a:t>
            </a:r>
            <a:endParaRPr lang="en-US" sz="1150" dirty="0"/>
          </a:p>
          <a:p>
            <a:r>
              <a:rPr lang="en-US" sz="1150" dirty="0">
                <a:solidFill>
                  <a:srgbClr val="000000"/>
                </a:solidFill>
              </a:rPr>
              <a:t>The likely issue is VM 606/b-core did not come back over SSH after shutdown/resize/start.</a:t>
            </a:r>
            <a:endParaRPr lang="en-US" sz="1150" dirty="0"/>
          </a:p>
          <a:p>
            <a:r>
              <a:rPr lang="en-US" sz="1150" dirty="0">
                <a:solidFill>
                  <a:srgbClr val="000000"/>
                </a:solidFill>
              </a:rPr>
              <a:t>DDIL scale results remain valid because they were recorded before this stage.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37960" y="2971800"/>
            <a:ext cx="47548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000000"/>
                </a:solidFill>
              </a:rPr>
              <a:t>Next operational step: verify VM 606 status on Proxmox.</a:t>
            </a:r>
            <a:endParaRPr lang="en-US" sz="1150" dirty="0"/>
          </a:p>
          <a:p>
            <a:r>
              <a:rPr lang="en-US" sz="1150" dirty="0">
                <a:solidFill>
                  <a:srgbClr val="000000"/>
                </a:solidFill>
              </a:rPr>
              <a:t>Boot or console into b-core, confirm network/SSH, then restore 4 vCPU / 8192 MB.</a:t>
            </a:r>
            <a:endParaRPr lang="en-US" sz="1150" dirty="0"/>
          </a:p>
          <a:p>
            <a:r>
              <a:rPr lang="en-US" sz="1150" dirty="0">
                <a:solidFill>
                  <a:srgbClr val="000000"/>
                </a:solidFill>
              </a:rPr>
              <a:t>Rerun only the resource-scaling block if those results are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Immediate next steps before presenting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5120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1) Check and recover b-core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530352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ssh root@137.63.148.11 'qm status 606'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ssh root@137.63.148.11 'qm start 606'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ssh -i /home/fredrick/.ssh/id_rsa fredrick@137.63.148.42 hostname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ssh root@137.63.148.11 'qm set 606 --cores 4 --memory 8192'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40080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2) Preserve generated evidence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600200"/>
            <a:ext cx="512064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cp -a /root/genomics-scale-experiment \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  /root/genomics-scale-experiment-final-$(date +%Y%m%d-%H%M)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cat /root/genomics-scale-experiment/results/federation-scale-summary.csv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00000"/>
                </a:solidFill>
              </a:rPr>
              <a:t>ls -lah /root/genomics-scale-experiment/logs/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104241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For the presentation, state clearly: “The 4-site and 5-site DDIL scale tests completed successfully; only the optional Site B resource-scaling section failed and remains future work.”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Updated final claim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1033272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The system was extended from two core sites to a five-site federation control plane.</a:t>
            </a:r>
            <a:endParaRPr lang="en-US" sz="1400" dirty="0"/>
          </a:p>
          <a:p>
            <a:r>
              <a:rPr lang="en-US" sz="1400" dirty="0">
                <a:solidFill>
                  <a:srgbClr val="000000"/>
                </a:solidFill>
              </a:rPr>
              <a:t>Added sites C, D and E use static IPs, persistent private routes, Nginx mTLS, OPA and the Rust federation agent.</a:t>
            </a:r>
            <a:endParaRPr lang="en-US" sz="1400" dirty="0"/>
          </a:p>
          <a:p>
            <a:r>
              <a:rPr lang="en-US" sz="1400" dirty="0">
                <a:solidFill>
                  <a:srgbClr val="000000"/>
                </a:solidFill>
              </a:rPr>
              <a:t>Site D and Site E successfully verified JWKS from both Keycloak issuers and came online.</a:t>
            </a:r>
            <a:endParaRPr lang="en-US" sz="1400" dirty="0"/>
          </a:p>
          <a:p>
            <a:r>
              <a:rPr lang="en-US" sz="1400" dirty="0">
                <a:solidFill>
                  <a:srgbClr val="000000"/>
                </a:solidFill>
              </a:rPr>
              <a:t>Across 350 new DDIL scale measurements, every secured raw-export request reached policy enforcement and returned HTTP 403.</a:t>
            </a:r>
            <a:endParaRPr lang="en-US" sz="1400" dirty="0"/>
          </a:p>
          <a:p>
            <a:r>
              <a:rPr lang="en-US" sz="1400" dirty="0">
                <a:solidFill>
                  <a:srgbClr val="000000"/>
                </a:solidFill>
              </a:rPr>
              <a:t>The optional resource-scaling experiment encountered one recoverable b-core availability error and should be reported separately.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31720" y="5303520"/>
            <a:ext cx="7498080" cy="59436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04872" y="5376672"/>
            <a:ext cx="73517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Updated message: secure collaboration scales, while raw genomic data remains under local institutional control.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Federated Sovereign Genomics Cloud | Updated scale and DDIL results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Makerere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Federated Sovereign Genomics Cloud - Updated Scale Results</dc:title>
  <dc:subject>Federated Sovereign Genomics Cloud updated results</dc:subject>
  <dc:creator>Fredrick Tamale</dc:creator>
  <cp:lastModifiedBy>Fredrick Tamale</cp:lastModifiedBy>
  <cp:revision>1</cp:revision>
  <dcterms:created xsi:type="dcterms:W3CDTF">2026-10-06T05:53:02Z</dcterms:created>
  <dcterms:modified xsi:type="dcterms:W3CDTF">2026-10-06T05:53:02Z</dcterms:modified>
</cp:coreProperties>
</file>
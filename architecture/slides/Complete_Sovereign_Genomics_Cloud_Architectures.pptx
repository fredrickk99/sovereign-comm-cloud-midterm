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User-supplied CTA-MSC-4(2).pptx
- Sovereign_Genomics_Cloud_Literature_Review(1).docx
- Sovereign_Genomics_Cloud_Evidence_Map(1).xlsx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Synthesis from uploaded literature review and evidence map
- Data-state layer model derived for the presentation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Design and implementation of a hybrid cloud system for large-scale human genomic research (2023)
- Kyoto paper DOI 10.1038/s41439-023-00231-2
- Evidence map: comparator only because AWS supports joint genotyping and public services
- Literature review: HPCI/SINET, shared storage and supercomputing resources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GenoVault: a cloud based genomics repository (2021)
- GenoVault paper DOI 10.1186/s13040-021-00268-5
- Evidence map: OpenStack, Keystone, Cinder, Neutron, Nova, object storage, SFTP; FASTQ/BAM/SAM/BED/VCF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 scalable HPC framework for bioinformatics in resource-limited settings (2026)
- UVRI HPC paper DOI 10.1093/bioinformatics/btag149
- Evidence map: procurement, scalability, staffing, storage, networking, automation, sustainability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Development of Bioinformatics Infrastructure for Genomics Research in H3Africa (2017)
- H3Africa infrastructure paper DOI 10.1016/j.gheart.2017.01.005
- Evidence map: H3ABioNet, Globus/GridFTP, Galaxy, job management, eBiokits, containerized workflows, controlled archive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Critical assessment of on-premise approaches to scalable genome analysis (2023)
- UAE on-premise paper DOI 10.1186/s12859-023-05470-2
- Evidence map: BCFtools, SnpSift, Hail, GEMINI, OpenCGA, local server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Secure secondary utilization system of genomic data using quantum secure cloud (2022)
- Quantum secure cloud paper DOI 10.1038/s41598-022-22804-x
- Evidence map: quantum key distribution, secret sharing, encrypted transfer/storage, controlled analysis environment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CanDIG: Federated network across Canada for multi-omic and health data discovery and analysis (2021)
- CanDIG paper DOI 10.1016/j.xgen.2021.100033
- Evidence map: GA4GH-compatible APIs, federated query/analysis, local data nodes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Federated European Genome-Phenome Archive (2025)
- FEGA paper DOI 10.1038/s41588-025-02101-9
- Evidence map: national FEGA nodes; common interfaces, metadata, access procedures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Computational Genomics platform: a Cloud-enabled approach (2024)
- Computational Genomics platform DOI 10.22323/1.458.0042
- Evidence map: OpenStack, Kubernetes, Slurm, Snakemake, Conda, Galaxy, OpenCGA, GitLab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DDBJ Japanese Genotype-phenotype Archive (2015)
- JGA paper DOI 10.1093/nar/gku1120
- Evidence map: controlled archive, encrypted data handling, data access committee workflow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European Genome-phenome Archive (2015)
- EGA paper DOI 10.1038/ng.3312
- Evidence map: archival, metadata, DAC, secure distribution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CyVerse: Cyberinfrastructure for open science (2023)
- CyVerse paper DOI 10.1371/journal.pcbi.1011270
- Evidence map: Data Store, Discovery Environment, Atmosphere, APIs, authentication, training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iPlant Collaborative (2016)
- iPlant paper DOI 10.1371/journal.pbio.1002342
- Evidence map: Data Store, Discovery Environment, Atmosphere, APIs, authentication, community applications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Scaling Scientific Workflows in Europe: Galaxy-Pulsar Network (2025)
- Galaxy-Pulsar paper DOI 10.5281/zenodo.16761933
- Evidence map: Galaxy, Pulsar, Terraform, Ansible, Jenkins, distributed job execution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Building cloud computing environments for genome analysis in Japan (2022)
- Supporting evidence DOI 10.1038/s41439-022-00223-8
- Literature review: HPCI/SINET, 400 Gbps backbone, shared storage, supercomputing resources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Cloud service checklist for academic communities (2022)
- Supporting evidence DOI 10.1038/s41439-022-00214-9
- Literature review: cloud service checklist customized for genomic medicine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Practical guide for managing large-scale human genome data in research (2021)
- Supporting evidence DOI 10.1038/s10038-020-00862-1
- Literature review: practical guide for large-scale human genome data management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H3Africa biobank-based genomic research model (2025)
- Supporting evidence DOI 10.1093/hmg/ddaf113
- Literature review: H3Africa model for biobank-based genomic research in resource-constrained settings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Connecting biospecimens and data in LMIC biobanking/genomics (2026)
- Supporting evidence DOI 10.3389/fpubh.2026.1835421
- Literature review: LMIC framework for digital infrastructure in biobanking and genomics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Genomics costing tool (2025)
- Supporting evidence DOI 10.3389/fpubh.2024.1498094
- Literature review: genomics costing tool for cross-scenario comparison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Building genomic capacity for precision health in Africa (2024)
- Supporting evidence DOI 10.1038/s41591-024-03081-9
- Literature review: building genomic capacity for precision health in Africa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Proposed architecture derived from user-supplied federated cloud concept and literature gaps
- Synthesis of the uploaded evidence map and literature review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Literature review evidence gaps: power/site resilience, disaster recovery, security operations, cost/staffing, low-bandwidth federation, clinical assurance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Sovereign_Genomics_Cloud_Evidence_Map(1).xlsx
- Sovereign_Genomics_Cloud_Literature_Review(1).docx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GENOMICS CLOUD ARCHITECTURES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architecture view: software, data states, interfaces, access control, security and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10104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7780">
            <a:solidFill>
              <a:srgbClr val="272E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paper contributes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697480"/>
            <a:ext cx="91440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Cloud control plane: OpenStack, Kubernetes, Slurm, federation APIs, secure enclaves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Genomic workflow path: FASTQ/CRAM/BAM/SAM/BED/VCF/gVCF to analysis, query and visualization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Data protection: identity, permissions, encryption, controlled archive, DAC and audit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Resource constraints: power, bandwidth, latency, WAN failure and staffing gaps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4297680"/>
            <a:ext cx="8961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Kyoto is retained as comparator; AWS/GCP/Azure designs are not repeated as standalone architectures.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Prepared from the uploaded PowerPoint, Word literature review and Excel evidence map.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Nine-layer cloud architecture lens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paper is read as a data path plus an infrastructure control plane.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13385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53619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Capture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709928" y="1536192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Sequencer output: BCL/FASTQ, run metadata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79208" y="1536192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instrument operator; checksum at ingest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11338560" cy="475488"/>
          </a:xfrm>
          <a:prstGeom prst="rect">
            <a:avLst/>
          </a:prstGeom>
          <a:solidFill>
            <a:srgbClr val="FAFB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6654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Ingest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709928" y="2066544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SFTP/Globus/GridFTP/API upload, quarantine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79208" y="2066544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submitter role; malware/metadata validation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113385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596896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Raw archive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709928" y="2596896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FASTQ/CRAM/BAM/SAM stored as immutable objects/files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79208" y="2596896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project owner/DAC; encryption at rest; backup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411480" y="3054096"/>
            <a:ext cx="11338560" cy="475488"/>
          </a:xfrm>
          <a:prstGeom prst="rect">
            <a:avLst/>
          </a:prstGeom>
          <a:solidFill>
            <a:srgbClr val="FAFB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Working storage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709928" y="3127248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BAM/CRAM/gVCF/VCF, references, indices, temp files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79208" y="3127248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job-scoped; scratch cleanup; snapshots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113385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Compute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1709928" y="3657600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Slurm/Kubernetes/OpenStack/HPC; container runtime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79208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scheduler queues; quota; service accounts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11480" y="4114800"/>
            <a:ext cx="11338560" cy="475488"/>
          </a:xfrm>
          <a:prstGeom prst="rect">
            <a:avLst/>
          </a:prstGeom>
          <a:solidFill>
            <a:srgbClr val="FAFB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1879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Workflow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709928" y="4187952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Nextflow/Snakemake/Galaxy/Pulsar/eBiokits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79208" y="4187952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approved pipelines; provenance; signed images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11480" y="4645152"/>
            <a:ext cx="113385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Variant/metadata DB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1709928" y="4718304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VCF/gVCF tables, phenotypes, consent, audit logs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79208" y="4718304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role/attribute policy; row/project level controls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11480" y="5175504"/>
            <a:ext cx="11338560" cy="475488"/>
          </a:xfrm>
          <a:prstGeom prst="rect">
            <a:avLst/>
          </a:prstGeom>
          <a:solidFill>
            <a:srgbClr val="FAFB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5248656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Analysis/UI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1709928" y="5248656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Galaxy, OpenCGA, Jupyter, APIs, portals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79208" y="5248656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federated identity; audit; least privilege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11480" y="5705856"/>
            <a:ext cx="113385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577900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Federation/DR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1709928" y="5779008"/>
            <a:ext cx="5577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GA4GH APIs, metadata cache, second site, restore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79208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Access: policy gateway; no raw export unless approved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lens is used on each architecture: software service, genomic data state, user interface, protection and limitation.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KYOTO COMPARATOR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on-premise genomics cloud with AWS as overflow/service tier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implementation of a hybrid cloud system for large-scale human genomic research (2023)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Large-scale human genome data, BAM/CRAM/VCF/gVCF, metadata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Raw/working data mainly remain in university/on-premise stores; AWS is used for joint genotyping and public-facing services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/ job submission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access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request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task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 STORAGE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custody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GPFS / NAS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genome files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datasets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+ metadata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policy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HPC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SINET / university resources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scheduling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Singularity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 runtime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HPCI/SINET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high-speed network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COMPONENT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excluded from strict corpus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genotyping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burst processing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services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access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S3/managed services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storage/service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10.1038/s41439-023-00231-2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on-premise storage preserves local custody for core data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network/HPC reduces dependency for local workloads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Containerized execution improves reproducibility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component requires explicit risk, jurisdiction and export controls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strict sovereign because AWS is operational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Power/WAN failure and low-bandwidth outage behavior not the central evaluation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burst creates cost and data-export governance questions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comparator, but not the proposed final architecture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GENOVAULT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OpenStack repository for NGS data custody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GenoVault: a cloud based genomics repository (2021)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FASTQ, BAM, SAM, BED, VCF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Only via owner-approved public/private sharing or SFTP download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/ PI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repository + SFTP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/ download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SFTP, project account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 action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public/private sharing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OPENSTACK CLOUD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institutional cloud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Keystone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identity/auth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instances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networking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675888" y="439826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6352" y="4544568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4581144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Cinder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volumes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REPOSITORY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NGS data services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FASTQ/BAM/SAM/BED/VCF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 checks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checksum validation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containers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workspaces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/ OUTPUT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exchange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catalogue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discovery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authorized files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gap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deeply specified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10.1186/s13040-021-00268-5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Keystone authentication controls cloud users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Owner-controlled public/private permissions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 checks protect against corrupted genomic files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Per-user containers reduce accidental data mixing</a:t>
            </a:r>
            <a:endParaRPr lang="en-US" sz="715" dirty="0"/>
          </a:p>
        </p:txBody>
      </p:sp>
      <p:sp>
        <p:nvSpPr>
          <p:cNvPr id="61" name="Shape 59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3" name="Text 61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more than full analytics cloud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Encryption-at-rest and key custody not detailed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DR, power, WAN failure, RTO/RPO not quantified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scale and cost benchmarks limited</a:t>
            </a:r>
            <a:endParaRPr lang="en-US" sz="715" dirty="0"/>
          </a:p>
        </p:txBody>
      </p:sp>
      <p:sp>
        <p:nvSpPr>
          <p:cNvPr id="64" name="Text 62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UVRI HPC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 HPC as the minimum sovereign compute core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scalable HPC framework for bioinformatics in resource-limited settings (2026)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FASTQ, BAM/CRAM, VCF/gVCF, reference files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No; design emphasis is in-house institutional infrastructure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USER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SSH / scheduler / local tools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node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submit jobs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Quotas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allocation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CONTROL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cluster management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job queues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management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+ health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/ NETWORK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 for local growth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+ working data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network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node-to-storage traffic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tier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 planning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bioinformatics applications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Containers/modules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tools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runs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→ alignment → variants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outputs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10.1093/bioinformatics/btag149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 owns compute, storage and policy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accounts/queues separate projects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reduces insecure manual drift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Backup/restore should be treated as part of sovereignty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is recent; long-term cost evidence limited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UI stack varies by implementation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access controls and encryption details not fully enumerated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autonomy and WAN-failure behavior need measured tests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H3AFRICA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African infrastructure for low-bandwidth genomics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Bioinformatics Infrastructure for Genomics Research in H3Africa (2017)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FASTQ, BAM/CRAM, VCF, phenotype metadata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Staged transfer possible; local analysis capacity and controlled regional archive reduce unnecessary movement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SITES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 institutions, 15 countries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+ phenotype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nodes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+ support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PLANE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data movement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Globus/GridFTP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managed/restartable transfer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Bandwidth assessment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readiness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media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bandwidth fails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PLANE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workflows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analysis UI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eBiokits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training/tools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workflows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ARCHIVE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custody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catalogues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access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release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records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10.1016/j.gheart.2017.01.005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archive separates custody from analysis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Globus/GridFTP supports authenticated transfer and restart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and policy reduce operational security gaps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committee model governs sensitive data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Nodes have different maturity levels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power and cost metrics uneven by site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Low-bandwidth behavior discussed more than formally benchmarked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 failure and latency not fully quantified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ON-PREMISE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Linux server stack for scalable variant analysis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assessment of on-premise approaches to scalable genome analysis (2023)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VCF/gVCF, variant annotations, genotype tables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No; evaluated on local institution-controlled hardware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/ query tools / web app where available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line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BCFtools, SnpSift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UI/API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OpenCGA/GEMINI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SERVER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single-site on-premise platform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host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CPU/RAM/storage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system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VCF + indices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query tables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SOFTWARE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comparison layer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BCFtools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filter/query VCF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SnpSift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annotate/filter variants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genetics tables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852160" y="439826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92624" y="4544568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581144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GEMINI/OpenCGA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database/API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outputs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Filtered VCF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variants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tables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tool-dependent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10.1186/s12859-023-05470-2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 controls server and data location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inherits local Linux/database controls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VCF files can remain inside local storage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hyperscaler dependence</a:t>
            </a:r>
            <a:endParaRPr lang="en-US" sz="715" dirty="0"/>
          </a:p>
        </p:txBody>
      </p:sp>
      <p:sp>
        <p:nvSpPr>
          <p:cNvPr id="61" name="Shape 59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3" name="Text 61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complete cloud or multi-tenant platform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Ingest, identity federation and DR not major focus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Power, WAN failure and low-bandwidth federation not addressed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and encryption details limited</a:t>
            </a:r>
            <a:endParaRPr lang="en-US" sz="715" dirty="0"/>
          </a:p>
        </p:txBody>
      </p:sp>
      <p:sp>
        <p:nvSpPr>
          <p:cNvPr id="64" name="Text 62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SECURE CLOUD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enclave architecture for secondary genomic use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secondary utilization system of genomic data using quantum secure cloud (2022)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Sensitive genomic datasets for secondary use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Leaves only through encrypted controlled channels into the approved secure environment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PROVIDER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authorized submitter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package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genome + metadata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Consent/policy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use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TRANSFER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cryptographic channel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QKD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generation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sharing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protection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transfer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motion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CLOUD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controlled enclave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data at rest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execution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analysis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separation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 split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OUTPUT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de-identified / approved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review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release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use record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10.1038/s41598-022-22804-x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QKD and secret sharing protect keys and transfer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storage protects datasets at rest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analysis environment limits raw data exposure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of key custody reduces insider risk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 infrastructure is expensive and hard to maintain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be impractical in resource-constrained settings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solve general low-cost cloud operations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Power/latency/WAN failure behavior not central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nodes keep multi-omic data local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CanDIG: Federated network across Canada for multi-omic and health data discovery and analysis (2021)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Multi-omic, genomic, phenotype and health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 by default; authorized queries/analyses cross federation while data stay at nodes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portal/API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identity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cohort request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API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GA4GH-compatible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search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gateway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authorization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broker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to nodes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NODE A/B/C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custody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store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+ clinical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service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policy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service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data-local compute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return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counts/cohorts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outputs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raw export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trace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10.1016/j.xgen.2021.100033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nodes enforce their own custody rules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authorization gates query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and APIs reduce raw-data movement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Auditing spans request, node and result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High-income setting; operational staffing needs may be high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Low-bandwidth, power disruption and minimal staffing evidence limited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adds governance and interoperability complexity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export policy depends on node approvals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FEGA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genome-phenome archive nodes under common rules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European Genome-Phenome Archive (2025)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Human genomic and phenotypic archive submissions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 central raw-data repository across federation; national nodes hold data under jurisdiction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submission route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+ consent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files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genome files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FEGA NODE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jurisdictional custody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datasets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service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discoverability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workflow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decisions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PLANE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interfaces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metadata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procedures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harmonized request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registry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discovery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AUTHORIZED USER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download/access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access request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DAC/policy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node-controlled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10.1038/s41588-025-02101-9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remain within national/jurisdictional custody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and consent-linked processes control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procedures create accountable federation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controls separate metadata discovery from data release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federation, not a low-cost compute cloud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National-node costs and staffing can be substantial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and WAN outage operation not quantified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Compute/analysis workflow layer is not the main focus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private cloud combining OpenStack, Kubernetes and Slurm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Genomics platform: a Cloud-enabled approach (2024)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FASTQ/BAM/CRAM/VCF, clinical metadata, workflow outputs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No; hospital-controlled infrastructure unless policy-approved sharing occurs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clinician/researcher/developer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web UI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OpenCGA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variant/clinical query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1499616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+ CI/CD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CONTROL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infrastructure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OpenStack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IaaS tenancy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+ containers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HPC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/ TOOLS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analysis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Snakemake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orchestration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environments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execution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SERVICES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+ databases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archive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FASTQ/BAM/CRAM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DB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OpenCGA / VCF data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visualized outputs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10.22323/1.458.0042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controls infrastructure and data location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OpenStack/Kubernetes isolate services and tenants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GitLab/Snakemake support provenance and change control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OpenCGA/Galaxy can enforce user-level access</a:t>
            </a:r>
            <a:endParaRPr lang="en-US" sz="715" dirty="0"/>
          </a:p>
        </p:txBody>
      </p:sp>
      <p:sp>
        <p:nvSpPr>
          <p:cNvPr id="61" name="Shape 59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3" name="Text 61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 paper with limited longitudinal evidence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Cost, resilience and independent performance data limited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Power/WAN failure handling not fully described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accreditation/change-control detail needs strengthening</a:t>
            </a:r>
            <a:endParaRPr lang="en-US" sz="715" dirty="0"/>
          </a:p>
        </p:txBody>
      </p:sp>
      <p:sp>
        <p:nvSpPr>
          <p:cNvPr id="64" name="Text 62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JGA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Controlled-access national archive rather than compute cloud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DDBJ Japanese Genotype-phenotype Archive (2015)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Genotype, phenotype, sequence datasets and metadata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Only after data access approval and controlled distribution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depositor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+ consent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files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sequence/genotype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DDBJ / JGA ARCHIVE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controlled archive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human data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catalogue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discoverable records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workflow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review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AUTHORIZED USER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distribution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data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+ consent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encrypted/controlled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ANALYSIS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archive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compute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provided by JGA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responsibility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10.1093/nar/gku1120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data handling protects archived human data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workflow restricts access to approved use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separates metadata discovery from data download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governance controls release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Archive/governance layer, not a compute cloud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detailed power, latency or WAN-failure design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analysis environment is outside main architecture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technology stack not deeply exposed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Mature controlled archive and access-governance plane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Genome-phenome Archive (2015)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Consented human genomic and phenotypic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Only through governed distribution after DAC approval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consented study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study/sample/dataset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upload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genome files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 ARCHIVE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repository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genomic files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discovery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linkage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conditions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workflow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 request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decision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+ policy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release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USER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analysis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Local/cloud analysis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EGA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user-managed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10.1038/ng.3312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Consent-linked DAC governance protects human data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distribution limits raw-data release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Metadata/data separation reduces exposure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Auditability belongs to archive and DAC workflow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archive pattern, not low-resource local deployment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and workflow orchestration are not core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Power, bandwidth and local outage handling not addressed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depends on jurisdiction and data-sharing agreements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CYVERSE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cyberinfrastructure for life-science data and tools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CyVerse: Cyberinfrastructure for open science (2023)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Life-science and genomics datasets; not limited to controlled human genomes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Data placed in community infrastructure by users; sharing controlled by platform permissions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/ CLI / API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Environment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analysis UI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CLI/API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access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CLOUD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publicly funded infrastructure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storage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workspaces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Apps/services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tools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services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packaging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execution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building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science products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tables/files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portal/app output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sharing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10.1371/journal.pcbi.1011270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and platform permissions govern users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 permissions control sharing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 allow automated but authenticated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designed as a human-genome clinical enclave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life-sciences scope, not a sovereign national genomics cloud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Substantial central funding and operations required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Human-genome controlled access not the central model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Low-resource power/WAN failure not a focus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IPLANT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Earlier community cloud blueprint: data store + discovery + cloud workbench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iPlant Collaborative (2016)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Life-science and genomics datasets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Data are uploaded to community infrastructure; sharing follows user/platform policy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COMMUNITY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researcher/educator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Env.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workbench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programmatic access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SERVICES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cyberinfrastructure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storage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VM workspaces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login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extensible platform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apps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registered tools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pipelines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support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to discovery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files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datasets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tools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catalog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10.1371/journal.pbio.1002342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authentication controls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 permissions govern sharing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and application model standardize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community-service based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Older broad life-sciences architecture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specific to sovereign human genomics or LMIC operation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funding and expert operations required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Power, bandwidth outage and DR details limited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GALAXY-PULSAR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workflow execution across institutional endpoints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Scientific Workflows in Europe: Galaxy-Pulsar Network (2025)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Workflow input files; genomics possible but broader scientific workflows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Portal dispatches work to endpoints; data may move to execution site unless staged locally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Galaxy portal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 UI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design/run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inputs/results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CONTROL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dispatch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Pulsar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job runner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Terraform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 endpoints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Ansible/Jenkins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automation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compute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HPC/cloud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execution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runtime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container/env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staging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inputs/outputs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returned to portal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files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outputs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 viewers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record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10.5281/zenodo.16761933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 identity controls portal access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Pulsar endpoints isolate execution sites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improves repeatability and patching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movement policy must be explicitly governed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Preprint/broader workflows, not human genomics only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low-bandwidth evidence needs more evaluation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may move unless endpoint is data-local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Power/WAN failure recovery not fully quantified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CLOUD ENVIRONMENTS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backbone and supercomputing fabric for genome analysis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cloud computing environments for genome analysis in Japan (2022)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Genome analysis datasets at national academic sites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Hybrid/public parts exist, but sovereign value is HPCI/SINET and shared academic resources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USER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access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/ allocation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resource use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jobs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genome analysis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SINET / HPCI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research backbone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Gbps backbone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high-speed transfer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genome files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trust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SUPERCOMPUTERS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scarce compute resources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systems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analyses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schedulers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workloads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resources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results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variants/reports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network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10.1038/s41439-022-00223-8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network limits exposure relative to public internet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accounts and allocations govern use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national resources reduce replication of sensitive data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Commercial-cloud integration makes it comparator/supporting only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strict because commercial-cloud integration is discussed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Requires strong national backbone investment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power/WAN failure at endpoints not solved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complete LMIC deployment blueprint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CLOUD CHECKLIST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control plane for genome medical research clouds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service checklist for academic communities (2022)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Control requirements for genomic medicine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Not an architecture; defines what any cloud must verify before raw data movement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CONTROLLER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sensitivity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owner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CONTROLS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service layer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access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traffic flows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data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675888" y="439826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6352" y="4544568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4581144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actions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SERVICE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platform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isolation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retention/deletion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response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go/no-go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actions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plan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sign-off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10.1038/s41439-022-00214-9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Treats governance as a first-class cloud layer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 controls before sensitive genome upload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where small teams lack full security staff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auditability and policy harmonization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implementation or performance benchmark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specify exact storage/compute stack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Power, bandwidth and WAN failure not addressed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local adaptation to each institution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MANAGEMENT GUIDE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genome data lifecycle controls around the cloud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guide for managing large-scale human genome data in research (2021)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Large-scale human genome research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Only under defined governance, consent and controlled transfer rules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sequencing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model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use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raw/processed/meta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/ STORE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repository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archive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FASTQ/CRAM/BAM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VCF/tables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sample/study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/ SHARE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+ access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workflow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path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review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DAC/policy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transfer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release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/ DELETE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lifecycle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timeline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disposal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trail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10.1038/s10038-020-00862-1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governance protects data before technology choices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Separates raw data, derived data, metadata and consent records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approval and secure transfer govern sharing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Retention/deletion control long-term risk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Guidance, not a deployed cloud stack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exact software services or benchmark data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resilience and power continuity not specified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mapping into local platform implementation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H3AFRICA BIOBANK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Program-level architecture linking biospecimens, data and African capacity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H3Africa biobank-based genomic research model (2025)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Biospecimen-linked genomic and phenotype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Data sharing governed by locally led program policy and capacity model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/ SITE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custody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Biospecimens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chain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 metadata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identity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 DATA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digital layer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files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FASTQ/BAM/VCF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Phenotype data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clinical/research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consent/policy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CAPACITY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services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layer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Archive/analysis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capacity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leadership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OUTPUT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African-led science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Discoveries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results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sharing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10.1093/hmg/ddaf113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 sample governance with digital data governance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leadership reduces extractive data movement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building is treated as infrastructure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controlled data sharing rather than open raw export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model, not cloud implementation paper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cloud software stack not specified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Power, bandwidth and WAN tests not given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and staffing models need local detail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LMIC DIGITAL INFRASTRUCTURE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for sovereign genomics in resource-constrained settings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biospecimens and data in LMIC biobanking/genomics (2026)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Biospecimen, genomic, clinical and governance metadata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The framework favors controlled, interoperable exchange rather than uncontrolled raw-data export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INSTITUTION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 base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+ consent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operators/users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CORE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infrastructure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metadata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data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Interoperability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standards/APIs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layer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sharing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alignment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exchange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authorized sync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loop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/ RESEARCH USE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improvement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10.3389/fpubh.2026.1835421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interoperability and skills are equal to servers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 and genomic repositories must be access-controlled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reduce ad-hoc insecure transfer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planning limits dependence on external teams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Scoping review/framework, not a deployed cloud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name a complete software stack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power/WAN/failover evidence absent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translation into platform acceptance tests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 COSTING TOOL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layer for choosing local, shared or federated capacity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 costing tool (2025)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Cost inputs for sequencing, storage, compute, staff and operations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Not about data movement; helps decide whether raw data should stay local or use shared capacity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estimates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servers/storage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OPEX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power/staff/links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comparison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cloud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platform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cloud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capacity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+ network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selection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sample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metric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energy/link/staff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point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expand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CONTROL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8432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68896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backup/testing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10.3389/fpubh.2024.1498094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budget lines for backup, operations and staffing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compare local custody against shared capacity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energy and connectivity visible risks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acceptance input for sovereign cloud design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evidence, not a platform architecture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specific software or security mechanism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test power/WAN/latency itself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Requires accurate local cost data</a:t>
            </a:r>
            <a:endParaRPr lang="en-US" sz="715" dirty="0"/>
          </a:p>
        </p:txBody>
      </p:sp>
      <p:sp>
        <p:nvSpPr>
          <p:cNvPr id="61" name="Text 59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GENOMIC CAPACITY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and institutional environment for sovereign genomics infrastructure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genomic capacity for precision health in Africa (2024)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098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81912"/>
            <a:ext cx="5943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/ INFRASTRUCTURE DATA PATH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6126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handled: Population genomic data, health data and research outputs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309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leaves institution? Should remain under locally led governance and equitable sharing frameworks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universities/health systems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governance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+ policy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499616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capacity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pipeline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496312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compute/data services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2816352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+ storage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custody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675888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16352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platforms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capacity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75888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16352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links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672584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55464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19472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regional/international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992624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interoperability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852160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92624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sharing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equitable rules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852160" y="382219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92624" y="3968496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4005072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support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848856" y="4023360"/>
            <a:ext cx="182880" cy="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31736" y="2240280"/>
            <a:ext cx="1993392" cy="3858768"/>
          </a:xfrm>
          <a:prstGeom prst="roundRect">
            <a:avLst>
              <a:gd name="adj" fmla="val 3670"/>
            </a:avLst>
          </a:prstGeom>
          <a:solidFill>
            <a:srgbClr val="F4F6FD"/>
          </a:solidFill>
          <a:ln w="12700">
            <a:solidFill>
              <a:srgbClr val="272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2359152"/>
            <a:ext cx="18653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HEALTH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095744" y="2560320"/>
            <a:ext cx="1865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layer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68896" y="2816352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852928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clinical/research value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028432" y="324612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68896" y="3392424"/>
            <a:ext cx="1719072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429000"/>
            <a:ext cx="1572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outputs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impact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02920" y="6144768"/>
            <a:ext cx="8549640" cy="210312"/>
          </a:xfrm>
          <a:prstGeom prst="rect">
            <a:avLst/>
          </a:prstGeom>
          <a:solidFill>
            <a:srgbClr val="F9FAFE"/>
          </a:solidFill>
          <a:ln w="10160">
            <a:solidFill>
              <a:srgbClr val="DC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6181344"/>
            <a:ext cx="84399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states: raw objects/files → working files/tables → controlled outputs/visualizations | DOI: 10.1038/s41591-024-03081-9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52804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7776" y="1490472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ACCESS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674352" y="1764792"/>
            <a:ext cx="2121408" cy="1801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Frames sovereignty as institutional capability, not only server location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governance and ethics must shape infrastructure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Equitable collaboration reduces raw-data extraction risk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building improves long-term security operations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9528048" y="3767328"/>
            <a:ext cx="2395728" cy="2633472"/>
          </a:xfrm>
          <a:prstGeom prst="roundRect">
            <a:avLst>
              <a:gd name="adj" fmla="val 3053"/>
            </a:avLst>
          </a:prstGeom>
          <a:solidFill>
            <a:srgbClr val="FFF6EB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3840480"/>
            <a:ext cx="21762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GAPS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9674352" y="4114800"/>
            <a:ext cx="2121408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Policy/capacity synthesis, not a cloud architecture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detailed software stack or data path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failure modes are not quantified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pairing with technical reference architecture</a:t>
            </a:r>
            <a:endParaRPr lang="en-US" sz="715" dirty="0"/>
          </a:p>
        </p:txBody>
      </p:sp>
      <p:sp>
        <p:nvSpPr>
          <p:cNvPr id="58" name="Text 56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boxes show reported services where named; where a paper is not a full cloud, the missing layer is shown as a limitation rather than invented.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FEDERATION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institution remains a complete, independent cloud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genomic data stays inside the site; the community plane carries identity, policy, metadata and approved results.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49640" cy="5010912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8415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INSTITUTION-OWNED SOVEREIGN ZONES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" y="1865376"/>
            <a:ext cx="5760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site can continue ingest, storage, processing and authorization locally during WAN loss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30352" y="2130552"/>
            <a:ext cx="2304288" cy="3794760"/>
          </a:xfrm>
          <a:prstGeom prst="roundRect">
            <a:avLst>
              <a:gd name="adj" fmla="val 3175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585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" y="2633472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70048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ingest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sequencer • checksum • quarantine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682496" y="306324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4944" y="3209544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46120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Ceph / MinIO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 • CRAM/BAM • gVCF objects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1682496" y="363931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" y="3785616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EAF5EF"/>
          </a:solidFill>
          <a:ln w="15240">
            <a:solidFill>
              <a:srgbClr val="5DA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22192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+ Slurm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Nextflow/Snakemake • OCI tools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1682496" y="421538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" y="4361688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398264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+ MongoDB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LIMS/consent • workflow/QC metadata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291840" y="2130552"/>
            <a:ext cx="2304288" cy="3794760"/>
          </a:xfrm>
          <a:prstGeom prst="roundRect">
            <a:avLst>
              <a:gd name="adj" fmla="val 3175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585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56432" y="2633472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2670048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ingest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sequencer • checksum • quarantine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443984" y="306324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56432" y="3209544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246120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Ceph / MinIO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 • CRAM/BAM • gVCF objects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443984" y="363931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56432" y="3785616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EAF5EF"/>
          </a:solidFill>
          <a:ln w="15240">
            <a:solidFill>
              <a:srgbClr val="5DA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3822192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+ Slurm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Nextflow/Snakemake • OCI tools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443984" y="421538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456432" y="4361688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4398264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+ MongoDB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LIMS/consent • workflow/QC metadata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053328" y="2130552"/>
            <a:ext cx="2304288" cy="3794760"/>
          </a:xfrm>
          <a:prstGeom prst="roundRect">
            <a:avLst>
              <a:gd name="adj" fmla="val 3175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2585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633472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670048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ingest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sequencer • checksum • quarantine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205472" y="3063240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17920" y="3209544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246120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Ceph / MinIO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 • CRAM/BAM • gVCF objects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7205472" y="3639312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17920" y="3785616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EAF5EF"/>
          </a:solidFill>
          <a:ln w="15240">
            <a:solidFill>
              <a:srgbClr val="5DA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822192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+ Slurm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Nextflow/Snakemake • OCI tools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205472" y="4215384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17920" y="4361688"/>
            <a:ext cx="1975104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4398264"/>
            <a:ext cx="18288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+ MongoDB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LIMS/consent • workflow/QC metadata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098280" y="1417320"/>
            <a:ext cx="2816352" cy="2670048"/>
          </a:xfrm>
          <a:prstGeom prst="roundRect">
            <a:avLst>
              <a:gd name="adj" fmla="val 2740"/>
            </a:avLst>
          </a:prstGeom>
          <a:solidFill>
            <a:srgbClr val="F4F6FD"/>
          </a:solidFill>
          <a:ln w="17145">
            <a:solidFill>
              <a:srgbClr val="272E6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8116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PLANE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90304" y="189280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raw-data repository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9372600" y="2212848"/>
            <a:ext cx="2212848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45752" y="2249424"/>
            <a:ext cx="20665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identity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Keycloak + Shibboleth/OIDC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10479024" y="2642616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372600" y="2788920"/>
            <a:ext cx="2212848" cy="429768"/>
          </a:xfrm>
          <a:prstGeom prst="roundRect">
            <a:avLst>
              <a:gd name="adj" fmla="val 17021"/>
            </a:avLst>
          </a:prstGeom>
          <a:solidFill>
            <a:srgbClr val="F4F6FD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45752" y="2825496"/>
            <a:ext cx="20665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+ policy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Beacon v2/GA4GH • catalogue • audit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10479024" y="3218688"/>
            <a:ext cx="0" cy="137160"/>
          </a:xfrm>
          <a:prstGeom prst="line">
            <a:avLst/>
          </a:prstGeom>
          <a:noFill/>
          <a:ln w="15240">
            <a:solidFill>
              <a:srgbClr val="272E62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372600" y="3364992"/>
            <a:ext cx="2212848" cy="429768"/>
          </a:xfrm>
          <a:prstGeom prst="roundRect">
            <a:avLst>
              <a:gd name="adj" fmla="val 17021"/>
            </a:avLst>
          </a:prstGeom>
          <a:solidFill>
            <a:srgbClr val="EAF5EF"/>
          </a:solidFill>
          <a:ln w="15240">
            <a:solidFill>
              <a:srgbClr val="5DA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45752" y="3401568"/>
            <a:ext cx="20665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cache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• versioned • bounded state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8503920" y="3108960"/>
            <a:ext cx="768096" cy="0"/>
          </a:xfrm>
          <a:prstGeom prst="line">
            <a:avLst/>
          </a:prstGeom>
          <a:noFill/>
          <a:ln w="15240">
            <a:solidFill>
              <a:srgbClr val="5DAA82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503920" y="4069080"/>
            <a:ext cx="768096" cy="-228600"/>
          </a:xfrm>
          <a:prstGeom prst="line">
            <a:avLst/>
          </a:prstGeom>
          <a:noFill/>
          <a:ln w="15240">
            <a:solidFill>
              <a:srgbClr val="5DAA82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098280" y="4343400"/>
            <a:ext cx="2816352" cy="1572768"/>
          </a:xfrm>
          <a:prstGeom prst="roundRect">
            <a:avLst>
              <a:gd name="adj" fmla="val 4651"/>
            </a:avLst>
          </a:prstGeom>
          <a:solidFill>
            <a:srgbClr val="EAF5EF"/>
          </a:solidFill>
          <a:ln w="13970">
            <a:solidFill>
              <a:srgbClr val="5DA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08008" y="4416552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5DA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BUILT IN</a:t>
            </a:r>
            <a:endParaRPr lang="en-US" sz="1030" dirty="0"/>
          </a:p>
        </p:txBody>
      </p:sp>
      <p:sp>
        <p:nvSpPr>
          <p:cNvPr id="62" name="Text 60"/>
          <p:cNvSpPr/>
          <p:nvPr/>
        </p:nvSpPr>
        <p:spPr>
          <a:xfrm>
            <a:off x="9244584" y="4690872"/>
            <a:ext cx="2542032" cy="1133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UPS/generator, monitored cooling, graceful shutdown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registry/reference cache for disconnected runs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Resumable chunk transfer, checkpoint/retry, off-peak sync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24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after reconnect; site remains operational</a:t>
            </a:r>
            <a:endParaRPr lang="en-US" sz="715" dirty="0"/>
          </a:p>
        </p:txBody>
      </p:sp>
      <p:sp>
        <p:nvSpPr>
          <p:cNvPr id="63" name="Text 61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mapping: Ceph/MinIO holds raw objects; Postgres holds relational LIMS/consent; MongoDB holds workflow/QC documents; community plane holds metadata only.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proposed federation adds beyond the papers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literature gives components; the proposed design turns missing operational resilience into acceptance tests.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155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Raw-data custody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51760" y="1609344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federation papers reduce movement; archives release controlled copies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0" y="1609344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FASTQ/CRAM/BAM/gVCF remains at each institution by default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11155680" cy="658368"/>
          </a:xfrm>
          <a:prstGeom prst="rect">
            <a:avLst/>
          </a:prstGeom>
          <a:solidFill>
            <a:srgbClr val="FAFB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stack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OpenStack/Kubernetes/Slurm appear across papers but often separately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node has compute, object storage, metadata DB, workflow engine and user UI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11155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DAC/identity/permissions are present but uneven across layers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49440" y="3108960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RBAC/ABAC: ingest, archive, compute, DB, UI, federation gateway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11155680" cy="658368"/>
          </a:xfrm>
          <a:prstGeom prst="rect">
            <a:avLst/>
          </a:prstGeom>
          <a:solidFill>
            <a:srgbClr val="FAFB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3858768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Encryption/authentication are often stated without full key operations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49440" y="3858768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KMS/key custody, audit logs, signed containers, immutable backup, secure deletion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4507992"/>
            <a:ext cx="11155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460857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Power/WAN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4608576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few papers quantify outages or failover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0" y="4608576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UPS/generator, local cache, checkpointing, offline mode, reconciliation after reconnect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11155680" cy="658368"/>
          </a:xfrm>
          <a:prstGeom prst="rect">
            <a:avLst/>
          </a:prstGeom>
          <a:solidFill>
            <a:srgbClr val="FAFBFF"/>
          </a:solidFill>
          <a:ln w="10160">
            <a:solidFill>
              <a:srgbClr val="D5DC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5358384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51760" y="5358384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Galaxy/OpenCGA/APIs appear in separate designs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5358384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portal pattern: Galaxy/Jupyter/OpenCGA + CLI/API + metadata catalogue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" y="6565392"/>
            <a:ext cx="11658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synthesis: power, DR, key custody, staffing, total cost, low-bandwidth federation and clinical assurance are the weakest reported areas.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612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11704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slides are traceable to the uploaded evidence list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92608" y="1170432"/>
            <a:ext cx="11612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Strict-fit papers, supporting papers and Kyoto comparator are all represented.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394960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/ comparator papers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489204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GENOVAULT: 10.1186/s13040-021-00268-5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UVRI HPC: 10.1093/bioinformatics/btag149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H3AFRICA: 10.1016/j.gheart.2017.01.005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ON-PREMISE: 10.1186/s12859-023-05470-2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SECURE CLOUD: 10.1038/s41598-022-22804-x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CANDIG: 10.1016/j.xgen.2021.100033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FEGA: 10.1038/s41588-025-02101-9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KYOTO: 10.1038/s41439-023-00231-2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6263640" y="1481328"/>
            <a:ext cx="5349240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5240">
            <a:solidFill>
              <a:srgbClr val="272E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continuation + supporting papers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0528" y="2084832"/>
            <a:ext cx="4828032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PLATFORM: 10.22323/1.458.0042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JGA: 10.1093/nar/gku1120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EGA: 10.1038/ng.3312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CYVERSE: 10.1371/journal.pcbi.1011270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IPLANT: 10.1371/journal.pbio.1002342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GALAXY-PULSAR: 10.5281/zenodo.16761933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CLOUD ENVIRONMENTS: 10.1038/s41439-022-00223-8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CLOUD CHECKLIST: 10.1038/s41439-022-00214-9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MANAGEMENT GUIDE: 10.1038/s10038-020-00862-1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H3AFRICA BIOBANK MODEL: 10.1093/hmg/ddaf113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LMIC DIGITAL INFRASTRUCTURE: 10.3389/fpubh.2026.1835421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 COSTING TOOL: 10.3389/fpubh.2024.1498094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570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GENOMIC CAPACITY: 10.1038/s41591-024-03081-9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RENU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Sovereign Genomics Cloud Architectures</dc:title>
  <dc:subject>Sovereign genomics cloud architectures</dc:subject>
  <dc:creator>OpenAI</dc:creator>
  <cp:lastModifiedBy>OpenAI</cp:lastModifiedBy>
  <cp:revision>1</cp:revision>
  <dcterms:created xsi:type="dcterms:W3CDTF">2026-09-13T10:35:46Z</dcterms:created>
  <dcterms:modified xsi:type="dcterms:W3CDTF">2026-09-13T10:35:46Z</dcterms:modified>
</cp:coreProperties>
</file>